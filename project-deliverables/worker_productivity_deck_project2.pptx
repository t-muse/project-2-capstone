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8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53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0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72D67">
              <a:alpha val="80000"/>
            </a:srgbClr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0"/>
            <a:ext cx="73152" cy="514350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178040" y="13716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943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Impact of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1078992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 and Distraction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171907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Worker Productivity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" y="2432304"/>
            <a:ext cx="5486400" cy="18288"/>
          </a:xfrm>
          <a:prstGeom prst="rect">
            <a:avLst/>
          </a:prstGeom>
          <a:solidFill>
            <a:srgbClr val="C8DCFF">
              <a:alpha val="50000"/>
            </a:srgbClr>
          </a:solidFill>
          <a:ln w="12700">
            <a:solidFill>
              <a:srgbClr val="C8D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25420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Thealisha Muse  |  AI08-PT-CAP-01  |  Dr. James Hudson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8529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Machine Learning Modeling and Pipeline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440740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Records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94560" y="440740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19456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 Models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023360" y="4407408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2336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Fragmented Workday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371600"/>
            <a:ext cx="2651760" cy="77724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508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Interruptions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27432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meetings and notifications fragment attention, making people feel busy while reducing meaningful output.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18688" y="137160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18688" y="1371600"/>
            <a:ext cx="2651760" cy="77724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5087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5848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Cognitive Costs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01568" y="27432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logged and meeting counts do not capture the mental toll of a fragmented workday, leaving leadership without real insight.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53328" y="137160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53328" y="1371600"/>
            <a:ext cx="2651760" cy="77724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5087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90488" y="22128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Work Time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36208" y="274320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and hybrid environments blur the line between collaboration and distraction, making protected focus time harder to achieve.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1444752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11096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5819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People Ops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194767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sustainable workloads and reduce cognitive strain across the workforce.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1417320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1417320"/>
            <a:ext cx="640080" cy="1444752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1109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5819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Managers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23560" y="194767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focused work time and restructure meetings for better team output.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017520"/>
            <a:ext cx="640080" cy="1444752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11296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182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34440" y="354787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data-informed decisions on org design, resourcing, and performance strategy.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46320" y="3017520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846320" y="3017520"/>
            <a:ext cx="640080" cy="1444752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511296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3182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23560" y="354787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structure their day, reduce interruptions, and protect deep work periods.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0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Actionable Insight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1508760" cy="2999232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15798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715768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employee records across 30 work and wellbeing variables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03120" y="1572768"/>
            <a:ext cx="1508760" cy="2999232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103120" y="1572768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0312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157984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2715768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19456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meeting density, stress ratio, and collaboration interaction variables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94760" y="1572768"/>
            <a:ext cx="1508760" cy="2999232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794760" y="1572768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79476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21579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86200" y="2715768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88620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4 algorithms from Linear Regression to Gradient Boosting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0" y="1572768"/>
            <a:ext cx="1508760" cy="2999232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486400" y="1572768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48640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2157984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77840" y="2715768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57784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which factors drive productivity and what thresholds matter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7178040" y="1572768"/>
            <a:ext cx="1508760" cy="2999232"/>
          </a:xfrm>
          <a:prstGeom prst="rect">
            <a:avLst/>
          </a:prstGeom>
          <a:solidFill>
            <a:srgbClr val="172D67">
              <a:alpha val="60000"/>
            </a:srgbClr>
          </a:solidFill>
          <a:ln w="12700">
            <a:solidFill>
              <a:srgbClr val="2E73E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7178040" y="1572768"/>
            <a:ext cx="1508760" cy="4572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717804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3820" y="2157984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69480" y="2715768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7269480" y="333756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findings into clear, actionable guidance for leadership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Datasets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40233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4023360" cy="6400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8132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5087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Worker Productivity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17627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645920" y="2267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8346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64592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34930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645920" y="3584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41879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 Face. Measures work structure, performance scores, and employee wellbeing.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63440" y="1389888"/>
            <a:ext cx="40233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63440" y="1389888"/>
            <a:ext cx="4023360" cy="64008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8132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76672" y="15087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and Distraction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00600" y="217627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790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5852160" y="2267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Records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00600" y="28346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585216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00600" y="34930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5852160" y="3584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Distraction Signals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800600" y="41879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Human Clarity Institute. Captures focus duration, distractions, and cognitive fatigue.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Varies Widely Across Employees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1965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3035808"/>
            <a:ext cx="1965960" cy="9144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1965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7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 of 100)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389888"/>
            <a:ext cx="1965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3035808"/>
            <a:ext cx="1965960" cy="9144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481328"/>
            <a:ext cx="1965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C1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560320" y="234086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389888"/>
            <a:ext cx="1965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3035808"/>
            <a:ext cx="1965960" cy="9144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481328"/>
            <a:ext cx="1965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7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09160" y="234086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389888"/>
            <a:ext cx="1965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3035808"/>
            <a:ext cx="1965960" cy="9144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1481328"/>
            <a:ext cx="1965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72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858000" y="234086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your business: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6393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significant untapped potential. The 63-point spread between the highest and lowest performers signals that work structure shapes outcomes, not just talent. This is the kind of variability that data-driven interventions can address.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75th percentile and maximum both equal 98, indicating a ceiling effect in the upper range of scores.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Productivity?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721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34640" y="1508760"/>
            <a:ext cx="5029200" cy="246888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18704" y="150876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2.7876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8229600" cy="420624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9476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Quality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34640" y="1984248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34640" y="1984248"/>
            <a:ext cx="507949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97453" y="198424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0.2816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4231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34640" y="2459736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34640" y="2459736"/>
            <a:ext cx="412394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01898" y="245973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0.2290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43784"/>
            <a:ext cx="8229600" cy="420624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8986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34640" y="2935224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34640" y="2935224"/>
            <a:ext cx="311810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1314" y="293522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0.1727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19272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3741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Support Level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34640" y="3410712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34640" y="3410712"/>
            <a:ext cx="109728" cy="246888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99232" y="341071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0.0477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420624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38496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Per Week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834640" y="3886200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834640" y="3886200"/>
            <a:ext cx="109728" cy="246888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99232" y="388620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0.0233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70248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4325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Frequency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834640" y="4361688"/>
            <a:ext cx="5029200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834640" y="4361688"/>
            <a:ext cx="109728" cy="246888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99232" y="436168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7914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Permutation feature importance on final Gradient Boosting model (test set, n=300)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Activity Does Not Mean More Productivity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397764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3977640" cy="45720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Diminishing Returns Effect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993392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09397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19933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meeting load beyond an optimal point does not improve outcomes and can actively reduce them.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2679192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7977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26791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longer hours shows weak or negative correlation with productivity, especially under high stress.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" y="3364992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46557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3649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reporting high stress and poor work-life balance show significantly lower productivity scores.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4360" y="4050792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5137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40507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adding more activity without protecting focus time creates the feeling of productivity without the results.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617720" y="1389888"/>
            <a:ext cx="4069080" cy="3401568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4754880" y="15727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Paradox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800600" y="2148840"/>
            <a:ext cx="3703320" cy="713232"/>
          </a:xfrm>
          <a:prstGeom prst="rect">
            <a:avLst/>
          </a:prstGeom>
          <a:solidFill>
            <a:srgbClr val="22DDD2">
              <a:alpha val="80000"/>
            </a:srgbClr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89204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Meetings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892040" y="24871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Focus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766560" y="23042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Up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800600" y="2990088"/>
            <a:ext cx="3703320" cy="713232"/>
          </a:xfrm>
          <a:prstGeom prst="rect">
            <a:avLst/>
          </a:prstGeom>
          <a:solidFill>
            <a:srgbClr val="2E73EA">
              <a:alpha val="70000"/>
            </a:srgbClr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892040" y="30540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Meetings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892040" y="33284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766560" y="314553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Stable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800600" y="3831336"/>
            <a:ext cx="3703320" cy="713232"/>
          </a:xfrm>
          <a:prstGeom prst="rect">
            <a:avLst/>
          </a:prstGeom>
          <a:solidFill>
            <a:srgbClr val="8C15E9">
              <a:alpha val="80000"/>
            </a:srgbClr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4892040" y="38953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Meeting Load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892040" y="41696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766560" y="39867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Down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Differs Across the Organization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Score by Job 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7282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91640" y="1764792"/>
            <a:ext cx="2693518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91640" y="1764792"/>
            <a:ext cx="2477384" cy="246888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96512" y="1764792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3931920" cy="429768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2037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91640" y="2240280"/>
            <a:ext cx="2693518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91640" y="2240280"/>
            <a:ext cx="2417308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71719" y="2247138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633472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2679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91640" y="2715768"/>
            <a:ext cx="2693518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1640" y="2715768"/>
            <a:ext cx="2376983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42642" y="2722626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3931920" cy="429768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3154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91640" y="3191256"/>
            <a:ext cx="2693518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91640" y="3191256"/>
            <a:ext cx="2350922" cy="246888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15283" y="3198114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584448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" y="36301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91640" y="3666744"/>
            <a:ext cx="2693518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91640" y="3666744"/>
            <a:ext cx="2267803" cy="246888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23451" y="3666744"/>
            <a:ext cx="41946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059936"/>
            <a:ext cx="3931920" cy="429768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0352" y="41056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91640" y="4142232"/>
            <a:ext cx="2693518" cy="246888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691640" y="4142232"/>
            <a:ext cx="2155881" cy="246888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11529" y="4142232"/>
            <a:ext cx="502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Score by Department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1682496"/>
            <a:ext cx="4114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36008" y="169164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1709928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80760" y="1709928"/>
            <a:ext cx="2015642" cy="1828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142122" y="17099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0" y="1970532"/>
            <a:ext cx="4114800" cy="265176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36008" y="1979676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1997964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80760" y="1997964"/>
            <a:ext cx="1891284" cy="1828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017764" y="19979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0" y="2258568"/>
            <a:ext cx="4114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36008" y="226771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2286000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080760" y="2286000"/>
            <a:ext cx="1440485" cy="18288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566965" y="22860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0" y="2546604"/>
            <a:ext cx="4114800" cy="265176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36008" y="255574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80760" y="2574036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080760" y="2574036"/>
            <a:ext cx="1352398" cy="18288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478878" y="25740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0" y="2834640"/>
            <a:ext cx="4114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36008" y="2843784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80760" y="2862072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080760" y="2862072"/>
            <a:ext cx="1331671" cy="18288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458151" y="28620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0" y="3122676"/>
            <a:ext cx="4114800" cy="265176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636008" y="313182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80760" y="3150108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80760" y="3150108"/>
            <a:ext cx="1272083" cy="18288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398563" y="31501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82.9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0" y="3410712"/>
            <a:ext cx="4114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636008" y="3419856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080760" y="3438144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80760" y="3438144"/>
            <a:ext cx="935279" cy="18288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061759" y="343814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0" y="3698748"/>
            <a:ext cx="4114800" cy="265176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636008" y="370789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080760" y="3726180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080760" y="3726180"/>
            <a:ext cx="777240" cy="18288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903720" y="37261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572000" y="3986784"/>
            <a:ext cx="4114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636008" y="399592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080760" y="4014216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080760" y="4014216"/>
            <a:ext cx="686562" cy="18288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813042" y="40142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572000" y="4274820"/>
            <a:ext cx="4114800" cy="265176"/>
          </a:xfrm>
          <a:prstGeom prst="rect">
            <a:avLst/>
          </a:prstGeom>
          <a:solidFill>
            <a:srgbClr val="EAEEFF"/>
          </a:solidFill>
          <a:ln w="12700">
            <a:solidFill>
              <a:srgbClr val="D4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636008" y="4283964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080760" y="4302252"/>
            <a:ext cx="2606040" cy="182880"/>
          </a:xfrm>
          <a:prstGeom prst="rect">
            <a:avLst/>
          </a:prstGeom>
          <a:solidFill>
            <a:srgbClr val="DDE3F8"/>
          </a:solidFill>
          <a:ln w="12700">
            <a:solidFill>
              <a:srgbClr val="DDE3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080760" y="4302252"/>
            <a:ext cx="481889" cy="18288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608369" y="43022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94360" y="4590288"/>
            <a:ext cx="79552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employees and customer-facing roles (Sales, Customer Success) show the greatest opportunity. Targeted support could meaningfully close the gap.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INSIGHTS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Employees Actually Experience Work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790 workers surveyed on attention, focus, and distraction: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73152" cy="8686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737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sustain focus for 30 or more minutes on a single task (307 of 790)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66420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664208"/>
            <a:ext cx="73152" cy="86868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65192" y="1737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1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52160" y="1737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distractions reported: email and messaging apps, smartphone notifications, social media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73152" cy="868680"/>
          </a:xfrm>
          <a:prstGeom prst="rect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743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or often feel frustrated they cannot stay focused (535 of 790)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67004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670048"/>
            <a:ext cx="73152" cy="86868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5192" y="27432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5216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 strategy: silencing notifications, taking breaks, and working in quiet spaces (100 responses)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7588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675888"/>
            <a:ext cx="73152" cy="868680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37490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3749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their daily behavior as somewhat aligned with their priorities but not fully (418 of 790)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67588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3675888"/>
            <a:ext cx="73152" cy="868680"/>
          </a:xfrm>
          <a:prstGeom prst="rect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65192" y="37490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1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52160" y="3749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or almost always feel busy all day but accomplish little (236 of 790)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"/>
            <a:ext cx="1737360" cy="246888"/>
          </a:xfrm>
          <a:prstGeom prst="roundRect">
            <a:avLst>
              <a:gd name="adj" fmla="val 48148"/>
            </a:avLst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Can We Predict Productivity?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5029200" cy="402336"/>
          </a:xfrm>
          <a:prstGeom prst="rect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4356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4356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4356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50008"/>
            <a:ext cx="5029200" cy="438912"/>
          </a:xfrm>
          <a:prstGeom prst="rect">
            <a:avLst/>
          </a:prstGeom>
          <a:solidFill>
            <a:srgbClr val="F4F5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3957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25496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287121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00984"/>
            <a:ext cx="5029200" cy="438912"/>
          </a:xfrm>
          <a:prstGeom prst="rect">
            <a:avLst/>
          </a:prstGeom>
          <a:solidFill>
            <a:srgbClr val="EBEF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300984"/>
            <a:ext cx="54864" cy="438912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92424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68680" y="334670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926080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14800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12.88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5029200" cy="594360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94360" y="39136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Set (held-out 20%)  |  RMSE: 12.01   MAE: 9.81   R2: 0.30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47914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5-fold cross-validation  |  Lower RMSE is better  |  Higher R2 explains more variance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669280" y="1389888"/>
            <a:ext cx="3017520" cy="3520440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806440" y="153619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R2 = 0.30 Mean?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806440" y="2176272"/>
            <a:ext cx="475488" cy="475488"/>
          </a:xfrm>
          <a:prstGeom prst="ellipse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276856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400800" y="217627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30% of the variation in productivity scores.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806440" y="2798064"/>
            <a:ext cx="475488" cy="475488"/>
          </a:xfrm>
          <a:prstGeom prst="ellipse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898648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00800" y="279806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complex human behavior, this is a meaningful and useful signal.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806440" y="3419856"/>
            <a:ext cx="475488" cy="475488"/>
          </a:xfrm>
          <a:prstGeom prst="ellipse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3520440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400800" y="341985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to identify patterns and thresholds, not precise individual scores.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5806440" y="4041648"/>
            <a:ext cx="475488" cy="475488"/>
          </a:xfrm>
          <a:prstGeom prst="ellipse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4142232"/>
            <a:ext cx="274320" cy="27432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400800" y="404164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insights about which levers to pull are reliable and actionable.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0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Leadership Can Take 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4069080" cy="1664208"/>
          </a:xfrm>
          <a:prstGeom prst="rect">
            <a:avLst/>
          </a:prstGeom>
          <a:solidFill>
            <a:srgbClr val="172D67">
              <a:alpha val="70000"/>
            </a:srgbClr>
          </a:solidFill>
          <a:ln w="12700">
            <a:solidFill>
              <a:srgbClr val="2E73EA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02920" cy="502920"/>
          </a:xfrm>
          <a:prstGeom prst="ellipse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0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Job Satisfaction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1892808"/>
            <a:ext cx="3154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is the single strongest predictor of productivity (importance: 2.79). Pulse surveys, clear growth paths, and recognition programs are high-ROI investments.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389888"/>
            <a:ext cx="4069080" cy="1664208"/>
          </a:xfrm>
          <a:prstGeom prst="rect">
            <a:avLst/>
          </a:prstGeom>
          <a:solidFill>
            <a:srgbClr val="172D67">
              <a:alpha val="70000"/>
            </a:srgbClr>
          </a:solidFill>
          <a:ln w="12700">
            <a:solidFill>
              <a:srgbClr val="2E73EA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984248"/>
            <a:ext cx="502920" cy="502920"/>
          </a:xfrm>
          <a:prstGeom prst="ellipse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4630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Home Office Conditions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532120" y="1892808"/>
            <a:ext cx="3154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quality ranked second in feature importance (0.28). Equipment stipends and ergonomic support directly impact employee effectiveness.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4069080" cy="1664208"/>
          </a:xfrm>
          <a:prstGeom prst="rect">
            <a:avLst/>
          </a:prstGeom>
          <a:solidFill>
            <a:srgbClr val="172D67">
              <a:alpha val="70000"/>
            </a:srgbClr>
          </a:solidFill>
          <a:ln w="12700">
            <a:solidFill>
              <a:srgbClr val="2E73EA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273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Focused Work Time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3154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meeting-free blocks daily. The data shows diminishing returns beyond moderate meeting loads. Less is often more.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4069080" cy="1664208"/>
          </a:xfrm>
          <a:prstGeom prst="rect">
            <a:avLst/>
          </a:prstGeom>
          <a:solidFill>
            <a:srgbClr val="172D67">
              <a:alpha val="70000"/>
            </a:srgbClr>
          </a:solidFill>
          <a:ln w="12700">
            <a:solidFill>
              <a:srgbClr val="2E73EA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92040" y="3794760"/>
            <a:ext cx="502920" cy="502920"/>
          </a:xfrm>
          <a:prstGeom prst="ellipse">
            <a:avLst/>
          </a:prstGeom>
          <a:solidFill>
            <a:srgbClr val="172D67"/>
          </a:solidFill>
          <a:ln w="12700">
            <a:solidFill>
              <a:srgbClr val="172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273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Manager Development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32120" y="3703320"/>
            <a:ext cx="3154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score 90.3 vs. Juniors at 78.6. Manager support level is a top driver. Coaching junior employees pays outsized dividends.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0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solidFill>
            <a:srgbClr val="17072B"/>
          </a:solidFill>
          <a:ln w="12700">
            <a:solidFill>
              <a:srgbClr val="170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is not about working harder.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about working smarter.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321040" cy="18288"/>
          </a:xfrm>
          <a:prstGeom prst="rect">
            <a:avLst/>
          </a:prstGeom>
          <a:solidFill>
            <a:srgbClr val="C8DCFF">
              <a:alpha val="40000"/>
            </a:srgbClr>
          </a:solidFill>
          <a:ln w="12700">
            <a:solidFill>
              <a:srgbClr val="C8D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475488" cy="475488"/>
          </a:xfrm>
          <a:prstGeom prst="ellipse">
            <a:avLst/>
          </a:prstGeom>
          <a:solidFill>
            <a:srgbClr val="22DDD2"/>
          </a:solidFill>
          <a:ln w="12700">
            <a:solidFill>
              <a:srgbClr val="2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31343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2194560"/>
            <a:ext cx="7662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satisfaction, home office quality, and manager support are the highest-leverage factors for improving productivity.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3017520"/>
            <a:ext cx="475488" cy="475488"/>
          </a:xfrm>
          <a:prstGeom prst="ellipse">
            <a:avLst/>
          </a:prstGeom>
          <a:solidFill>
            <a:srgbClr val="8C15E9"/>
          </a:solidFill>
          <a:ln w="12700">
            <a:solidFill>
              <a:srgbClr val="8C1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1181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2999232"/>
            <a:ext cx="7662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meeting loads and extended work hours show diminishing returns. Protecting focus time is not optional.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11480" y="3822192"/>
            <a:ext cx="475488" cy="475488"/>
          </a:xfrm>
          <a:prstGeom prst="ellipse">
            <a:avLst/>
          </a:prstGeom>
          <a:solidFill>
            <a:srgbClr val="2E73EA"/>
          </a:solidFill>
          <a:ln w="12700">
            <a:solidFill>
              <a:srgbClr val="2E7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9227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3803904"/>
            <a:ext cx="7662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ML model provides a repeatable framework for monitoring workforce productivity and guiding future interventions.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6576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8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Thealisha Muse  |  AI08-PT-CAP-01  |  Dr. James Hudson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1098</Words>
  <Application>Microsoft Macintosh PowerPoint</Application>
  <PresentationFormat>On-screen Show (16:9)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Worker Productivity: Impact of Multitasking and Distraction</dc:title>
  <dc:subject>PptxGenJS Presentation</dc:subject>
  <dc:creator>Thealisha Muse</dc:creator>
  <cp:lastModifiedBy>Tisha Muse</cp:lastModifiedBy>
  <cp:revision>2</cp:revision>
  <dcterms:created xsi:type="dcterms:W3CDTF">2026-05-04T02:05:21Z</dcterms:created>
  <dcterms:modified xsi:type="dcterms:W3CDTF">2026-05-04T02:35:48Z</dcterms:modified>
</cp:coreProperties>
</file>