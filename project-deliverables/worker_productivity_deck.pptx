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707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22DDD2"/>
          </a:solidFill>
          <a:ln w="12700">
            <a:solidFill>
              <a:srgbClr val="22DDD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583680" y="0"/>
            <a:ext cx="2560320" cy="5143500"/>
          </a:xfrm>
          <a:prstGeom prst="rect">
            <a:avLst/>
          </a:prstGeom>
          <a:solidFill>
            <a:srgbClr val="172D67">
              <a:alpha val="80000"/>
            </a:srgbClr>
          </a:solidFill>
          <a:ln w="12700">
            <a:solidFill>
              <a:srgbClr val="172D67">
                <a:alpha val="8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309360" y="0"/>
            <a:ext cx="73152" cy="5143500"/>
          </a:xfrm>
          <a:prstGeom prst="rect">
            <a:avLst/>
          </a:prstGeom>
          <a:solidFill>
            <a:srgbClr val="8C15E9"/>
          </a:solidFill>
          <a:ln w="12700">
            <a:solidFill>
              <a:srgbClr val="8C15E9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>
            <a:alphaModFix amt="75000"/>
          </a:blip>
          <a:stretch>
            <a:fillRect/>
          </a:stretch>
        </p:blipFill>
        <p:spPr>
          <a:xfrm>
            <a:off x="7132320" y="1371600"/>
            <a:ext cx="1280160" cy="128016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365760" y="640080"/>
            <a:ext cx="5760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C8DC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Modeling the Impact of</a:t>
            </a:r>
            <a:endParaRPr lang="en-US" sz="2200" dirty="0"/>
          </a:p>
        </p:txBody>
      </p:sp>
      <p:sp>
        <p:nvSpPr>
          <p:cNvPr id="7" name="Text 4"/>
          <p:cNvSpPr/>
          <p:nvPr/>
        </p:nvSpPr>
        <p:spPr>
          <a:xfrm>
            <a:off x="365760" y="1143000"/>
            <a:ext cx="57607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Multitasking &amp; Distraction</a:t>
            </a:r>
            <a:endParaRPr lang="en-US" sz="3000" dirty="0"/>
          </a:p>
        </p:txBody>
      </p:sp>
      <p:sp>
        <p:nvSpPr>
          <p:cNvPr id="8" name="Text 5"/>
          <p:cNvSpPr/>
          <p:nvPr/>
        </p:nvSpPr>
        <p:spPr>
          <a:xfrm>
            <a:off x="365760" y="1783080"/>
            <a:ext cx="57607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2DDD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on Worker Productivity</a:t>
            </a:r>
            <a:endParaRPr lang="en-US" sz="2600" dirty="0"/>
          </a:p>
        </p:txBody>
      </p:sp>
      <p:sp>
        <p:nvSpPr>
          <p:cNvPr id="9" name="Shape 6"/>
          <p:cNvSpPr/>
          <p:nvPr/>
        </p:nvSpPr>
        <p:spPr>
          <a:xfrm>
            <a:off x="365760" y="2514600"/>
            <a:ext cx="5486400" cy="18288"/>
          </a:xfrm>
          <a:prstGeom prst="rect">
            <a:avLst/>
          </a:prstGeom>
          <a:solidFill>
            <a:srgbClr val="C8DCFF">
              <a:alpha val="50000"/>
            </a:srgbClr>
          </a:solidFill>
          <a:ln w="12700">
            <a:solidFill>
              <a:srgbClr val="C8DCFF">
                <a:alpha val="50000"/>
              </a:srgbClr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365760" y="2606040"/>
            <a:ext cx="5760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8D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Thealisha Muse  ·  AI08-PT-CAP-01  ·  Dr. James Hudson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365760" y="2926080"/>
            <a:ext cx="5760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C8D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2: Machine Learning Modeling and Pipeline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365760" y="4389120"/>
            <a:ext cx="1645920" cy="274320"/>
          </a:xfrm>
          <a:prstGeom prst="roundRect">
            <a:avLst>
              <a:gd name="adj" fmla="val 40000"/>
            </a:avLst>
          </a:prstGeom>
          <a:solidFill>
            <a:srgbClr val="22DDD2"/>
          </a:solidFill>
          <a:ln w="12700">
            <a:solidFill>
              <a:srgbClr val="22DDD2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365760" y="438912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7072B"/>
                </a:solidFill>
              </a:rPr>
              <a:t>1,500 Records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2194560" y="4389120"/>
            <a:ext cx="1645920" cy="274320"/>
          </a:xfrm>
          <a:prstGeom prst="roundRect">
            <a:avLst>
              <a:gd name="adj" fmla="val 40000"/>
            </a:avLst>
          </a:prstGeom>
          <a:solidFill>
            <a:srgbClr val="22DDD2"/>
          </a:solidFill>
          <a:ln w="12700">
            <a:solidFill>
              <a:srgbClr val="22DDD2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2194560" y="438912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7072B"/>
                </a:solidFill>
              </a:rPr>
              <a:t>4 ML Models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4023360" y="4389120"/>
            <a:ext cx="1645920" cy="274320"/>
          </a:xfrm>
          <a:prstGeom prst="roundRect">
            <a:avLst>
              <a:gd name="adj" fmla="val 40000"/>
            </a:avLst>
          </a:prstGeom>
          <a:solidFill>
            <a:srgbClr val="22DDD2"/>
          </a:solidFill>
          <a:ln w="12700">
            <a:solidFill>
              <a:srgbClr val="22DDD2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4023360" y="438912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7072B"/>
                </a:solidFill>
              </a:rPr>
              <a:t>30 Variables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2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686800" y="4846320"/>
            <a:ext cx="457200" cy="256032"/>
          </a:xfrm>
          <a:prstGeom prst="rect">
            <a:avLst/>
          </a:prstGeom>
          <a:solidFill>
            <a:srgbClr val="17072B"/>
          </a:solidFill>
          <a:ln w="12700">
            <a:solidFill>
              <a:srgbClr val="17072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686800" y="4846320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2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457200" y="228600"/>
            <a:ext cx="1737360" cy="256032"/>
          </a:xfrm>
          <a:prstGeom prst="roundRect">
            <a:avLst>
              <a:gd name="adj" fmla="val 50000"/>
            </a:avLst>
          </a:prstGeom>
          <a:solidFill>
            <a:srgbClr val="172D67"/>
          </a:solidFill>
          <a:ln w="12700">
            <a:solidFill>
              <a:srgbClr val="172D6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228600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200" kern="0" dirty="0">
                <a:solidFill>
                  <a:srgbClr val="FFFFFF"/>
                </a:solidFill>
              </a:rPr>
              <a:t>THE PROBLEM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457200" y="59436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707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Fragmented Workday</a:t>
            </a:r>
            <a:endParaRPr lang="en-US" sz="3200" dirty="0"/>
          </a:p>
        </p:txBody>
      </p:sp>
      <p:sp>
        <p:nvSpPr>
          <p:cNvPr id="7" name="Shape 5"/>
          <p:cNvSpPr/>
          <p:nvPr/>
        </p:nvSpPr>
        <p:spPr>
          <a:xfrm>
            <a:off x="384048" y="1389888"/>
            <a:ext cx="2651760" cy="333756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84048" y="1389888"/>
            <a:ext cx="2651760" cy="777240"/>
          </a:xfrm>
          <a:prstGeom prst="rect">
            <a:avLst/>
          </a:prstGeom>
          <a:solidFill>
            <a:srgbClr val="172D67"/>
          </a:solidFill>
          <a:ln w="12700">
            <a:solidFill>
              <a:srgbClr val="172D67"/>
            </a:solidFill>
            <a:prstDash val="solid"/>
          </a:ln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81328" y="1527048"/>
            <a:ext cx="457200" cy="45720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521208" y="2240280"/>
            <a:ext cx="23774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707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Constant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1707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Interruptions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566928" y="2880360"/>
            <a:ext cx="2286000" cy="1691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rgbClr val="170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Back-to-back meetings and notifications fragment attention — making people feel busy but reducing meaningful output.</a:t>
            </a:r>
            <a:endParaRPr lang="en-US" sz="1150" dirty="0"/>
          </a:p>
        </p:txBody>
      </p:sp>
      <p:sp>
        <p:nvSpPr>
          <p:cNvPr id="12" name="Shape 9"/>
          <p:cNvSpPr/>
          <p:nvPr/>
        </p:nvSpPr>
        <p:spPr>
          <a:xfrm>
            <a:off x="3218688" y="1389888"/>
            <a:ext cx="2651760" cy="333756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3218688" y="1389888"/>
            <a:ext cx="2651760" cy="777240"/>
          </a:xfrm>
          <a:prstGeom prst="rect">
            <a:avLst/>
          </a:prstGeom>
          <a:solidFill>
            <a:srgbClr val="8C15E9"/>
          </a:solidFill>
          <a:ln w="12700">
            <a:solidFill>
              <a:srgbClr val="8C15E9"/>
            </a:solidFill>
            <a:prstDash val="solid"/>
          </a:ln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15968" y="1527048"/>
            <a:ext cx="457200" cy="457200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3355848" y="2240280"/>
            <a:ext cx="23774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707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Hidden Cognitive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1707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Costs</a:t>
            </a:r>
            <a:endParaRPr lang="en-US" sz="1300" dirty="0"/>
          </a:p>
        </p:txBody>
      </p:sp>
      <p:sp>
        <p:nvSpPr>
          <p:cNvPr id="16" name="Text 12"/>
          <p:cNvSpPr/>
          <p:nvPr/>
        </p:nvSpPr>
        <p:spPr>
          <a:xfrm>
            <a:off x="3401568" y="2880360"/>
            <a:ext cx="2286000" cy="1691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rgbClr val="170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Hours logged and meeting counts don't capture the mental toll of a fragmented workday — leaving leadership without real insight.</a:t>
            </a:r>
            <a:endParaRPr lang="en-US" sz="1150" dirty="0"/>
          </a:p>
        </p:txBody>
      </p:sp>
      <p:sp>
        <p:nvSpPr>
          <p:cNvPr id="17" name="Shape 13"/>
          <p:cNvSpPr/>
          <p:nvPr/>
        </p:nvSpPr>
        <p:spPr>
          <a:xfrm>
            <a:off x="6053328" y="1389888"/>
            <a:ext cx="2651760" cy="333756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8" name="Shape 14"/>
          <p:cNvSpPr/>
          <p:nvPr/>
        </p:nvSpPr>
        <p:spPr>
          <a:xfrm>
            <a:off x="6053328" y="1389888"/>
            <a:ext cx="2651760" cy="777240"/>
          </a:xfrm>
          <a:prstGeom prst="rect">
            <a:avLst/>
          </a:prstGeom>
          <a:solidFill>
            <a:srgbClr val="2E73EA"/>
          </a:solidFill>
          <a:ln w="12700">
            <a:solidFill>
              <a:srgbClr val="2E73EA"/>
            </a:solidFill>
            <a:prstDash val="solid"/>
          </a:ln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50608" y="1527048"/>
            <a:ext cx="457200" cy="457200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6190488" y="2240280"/>
            <a:ext cx="23774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707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 Deep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1707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Work Time</a:t>
            </a:r>
            <a:endParaRPr lang="en-US" sz="1300" dirty="0"/>
          </a:p>
        </p:txBody>
      </p:sp>
      <p:sp>
        <p:nvSpPr>
          <p:cNvPr id="21" name="Text 16"/>
          <p:cNvSpPr/>
          <p:nvPr/>
        </p:nvSpPr>
        <p:spPr>
          <a:xfrm>
            <a:off x="6236208" y="2880360"/>
            <a:ext cx="2286000" cy="1691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rgbClr val="170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Remote and hybrid environments blur the line between collaboration and distraction, making protected focus time harder to achieve.</a:t>
            </a:r>
            <a:endParaRPr lang="en-US" sz="11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0F2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686800" y="4846320"/>
            <a:ext cx="457200" cy="256032"/>
          </a:xfrm>
          <a:prstGeom prst="rect">
            <a:avLst/>
          </a:prstGeom>
          <a:solidFill>
            <a:srgbClr val="17072B"/>
          </a:solidFill>
          <a:ln w="12700">
            <a:solidFill>
              <a:srgbClr val="17072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686800" y="4846320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3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457200" y="228600"/>
            <a:ext cx="1737360" cy="256032"/>
          </a:xfrm>
          <a:prstGeom prst="roundRect">
            <a:avLst>
              <a:gd name="adj" fmla="val 50000"/>
            </a:avLst>
          </a:prstGeom>
          <a:solidFill>
            <a:srgbClr val="172D67"/>
          </a:solidFill>
          <a:ln w="12700">
            <a:solidFill>
              <a:srgbClr val="172D6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228600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200" kern="0" dirty="0">
                <a:solidFill>
                  <a:srgbClr val="FFFFFF"/>
                </a:solidFill>
              </a:rPr>
              <a:t>BUSINESS IMPACT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457200" y="59436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707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Who Benefits — and How</a:t>
            </a:r>
            <a:endParaRPr lang="en-US" sz="3200" dirty="0"/>
          </a:p>
        </p:txBody>
      </p:sp>
      <p:sp>
        <p:nvSpPr>
          <p:cNvPr id="7" name="Shape 5"/>
          <p:cNvSpPr/>
          <p:nvPr/>
        </p:nvSpPr>
        <p:spPr>
          <a:xfrm>
            <a:off x="457200" y="1417320"/>
            <a:ext cx="411480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57200" y="1417320"/>
            <a:ext cx="640080" cy="1417320"/>
          </a:xfrm>
          <a:prstGeom prst="rect">
            <a:avLst/>
          </a:prstGeom>
          <a:solidFill>
            <a:srgbClr val="172D67"/>
          </a:solidFill>
          <a:ln w="12700">
            <a:solidFill>
              <a:srgbClr val="172D67"/>
            </a:solidFill>
            <a:prstDash val="solid"/>
          </a:ln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897380"/>
            <a:ext cx="457200" cy="45720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234440" y="1581912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707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HR &amp; People Ops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1234440" y="1920240"/>
            <a:ext cx="32004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70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sustainable workloads and reduce cognitive strain across the workforce.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4846320" y="1417320"/>
            <a:ext cx="411480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4846320" y="1417320"/>
            <a:ext cx="640080" cy="1417320"/>
          </a:xfrm>
          <a:prstGeom prst="rect">
            <a:avLst/>
          </a:prstGeom>
          <a:solidFill>
            <a:srgbClr val="2E73EA"/>
          </a:solidFill>
          <a:ln w="12700">
            <a:solidFill>
              <a:srgbClr val="2E73EA"/>
            </a:solidFill>
            <a:prstDash val="solid"/>
          </a:ln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37760" y="1897380"/>
            <a:ext cx="457200" cy="457200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5623560" y="1581912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707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Department Managers</a:t>
            </a:r>
            <a:endParaRPr lang="en-US" sz="1300" dirty="0"/>
          </a:p>
        </p:txBody>
      </p:sp>
      <p:sp>
        <p:nvSpPr>
          <p:cNvPr id="16" name="Text 12"/>
          <p:cNvSpPr/>
          <p:nvPr/>
        </p:nvSpPr>
        <p:spPr>
          <a:xfrm>
            <a:off x="5623560" y="1920240"/>
            <a:ext cx="32004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70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Protect focused work time and restructure meetings for better team output.</a:t>
            </a:r>
            <a:endParaRPr lang="en-US" sz="1100" dirty="0"/>
          </a:p>
        </p:txBody>
      </p:sp>
      <p:sp>
        <p:nvSpPr>
          <p:cNvPr id="17" name="Shape 13"/>
          <p:cNvSpPr/>
          <p:nvPr/>
        </p:nvSpPr>
        <p:spPr>
          <a:xfrm>
            <a:off x="457200" y="3017520"/>
            <a:ext cx="411480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8" name="Shape 14"/>
          <p:cNvSpPr/>
          <p:nvPr/>
        </p:nvSpPr>
        <p:spPr>
          <a:xfrm>
            <a:off x="457200" y="3017520"/>
            <a:ext cx="640080" cy="1417320"/>
          </a:xfrm>
          <a:prstGeom prst="rect">
            <a:avLst/>
          </a:prstGeom>
          <a:solidFill>
            <a:srgbClr val="22DDD2"/>
          </a:solidFill>
          <a:ln w="12700">
            <a:solidFill>
              <a:srgbClr val="22DDD2"/>
            </a:solidFill>
            <a:prstDash val="solid"/>
          </a:ln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3497580"/>
            <a:ext cx="457200" cy="457200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1234440" y="3182112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707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Executive Leadership</a:t>
            </a:r>
            <a:endParaRPr lang="en-US" sz="1300" dirty="0"/>
          </a:p>
        </p:txBody>
      </p:sp>
      <p:sp>
        <p:nvSpPr>
          <p:cNvPr id="21" name="Text 16"/>
          <p:cNvSpPr/>
          <p:nvPr/>
        </p:nvSpPr>
        <p:spPr>
          <a:xfrm>
            <a:off x="1234440" y="3520440"/>
            <a:ext cx="32004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70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 data-informed decisions on org design, resourcing, and performance strategy.</a:t>
            </a:r>
            <a:endParaRPr lang="en-US" sz="1100" dirty="0"/>
          </a:p>
        </p:txBody>
      </p:sp>
      <p:sp>
        <p:nvSpPr>
          <p:cNvPr id="22" name="Shape 17"/>
          <p:cNvSpPr/>
          <p:nvPr/>
        </p:nvSpPr>
        <p:spPr>
          <a:xfrm>
            <a:off x="4846320" y="3017520"/>
            <a:ext cx="411480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Shape 18"/>
          <p:cNvSpPr/>
          <p:nvPr/>
        </p:nvSpPr>
        <p:spPr>
          <a:xfrm>
            <a:off x="4846320" y="3017520"/>
            <a:ext cx="640080" cy="1417320"/>
          </a:xfrm>
          <a:prstGeom prst="rect">
            <a:avLst/>
          </a:prstGeom>
          <a:solidFill>
            <a:srgbClr val="8C15E9"/>
          </a:solidFill>
          <a:ln w="12700">
            <a:solidFill>
              <a:srgbClr val="8C15E9"/>
            </a:solidFill>
            <a:prstDash val="solid"/>
          </a:ln>
        </p:spPr>
      </p:sp>
      <p:pic>
        <p:nvPicPr>
          <p:cNvPr id="2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37760" y="3497580"/>
            <a:ext cx="457200" cy="457200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5623560" y="3182112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707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Employees</a:t>
            </a:r>
            <a:endParaRPr lang="en-US" sz="1300" dirty="0"/>
          </a:p>
        </p:txBody>
      </p:sp>
      <p:sp>
        <p:nvSpPr>
          <p:cNvPr id="26" name="Text 20"/>
          <p:cNvSpPr/>
          <p:nvPr/>
        </p:nvSpPr>
        <p:spPr>
          <a:xfrm>
            <a:off x="5623560" y="3520440"/>
            <a:ext cx="32004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70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Better structure their day, reduce interruptions, and protect deep work periods.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707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686800" y="4846320"/>
            <a:ext cx="457200" cy="256032"/>
          </a:xfrm>
          <a:prstGeom prst="rect">
            <a:avLst/>
          </a:prstGeom>
          <a:solidFill>
            <a:srgbClr val="17072B"/>
          </a:solidFill>
          <a:ln w="12700">
            <a:solidFill>
              <a:srgbClr val="17072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686800" y="4846320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4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22DD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Approach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68580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From Raw Data to Actionable Insight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411480" y="1554480"/>
            <a:ext cx="1508760" cy="3017520"/>
          </a:xfrm>
          <a:prstGeom prst="rect">
            <a:avLst/>
          </a:prstGeom>
          <a:solidFill>
            <a:srgbClr val="172D67">
              <a:alpha val="60000"/>
            </a:srgbClr>
          </a:solidFill>
          <a:ln w="12700">
            <a:solidFill>
              <a:srgbClr val="2E73EA">
                <a:alpha val="40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11480" y="1554480"/>
            <a:ext cx="1508760" cy="457200"/>
          </a:xfrm>
          <a:prstGeom prst="rect">
            <a:avLst/>
          </a:prstGeom>
          <a:solidFill>
            <a:srgbClr val="22DDD2"/>
          </a:solidFill>
          <a:ln w="12700">
            <a:solidFill>
              <a:srgbClr val="22DDD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11480" y="1554480"/>
            <a:ext cx="1508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707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1600" dirty="0"/>
          </a:p>
        </p:txBody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37260" y="2148840"/>
            <a:ext cx="457200" cy="45720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502920" y="2697480"/>
            <a:ext cx="13258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22DDD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Collect &amp;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b="1" dirty="0">
                <a:solidFill>
                  <a:srgbClr val="22DDD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Explore Data</a:t>
            </a:r>
            <a:endParaRPr lang="en-US" sz="1150" dirty="0"/>
          </a:p>
        </p:txBody>
      </p:sp>
      <p:sp>
        <p:nvSpPr>
          <p:cNvPr id="11" name="Text 8"/>
          <p:cNvSpPr/>
          <p:nvPr/>
        </p:nvSpPr>
        <p:spPr>
          <a:xfrm>
            <a:off x="502920" y="3337560"/>
            <a:ext cx="13258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C8D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1,500+ employee records across 30 work &amp; wellbeing variables</a:t>
            </a:r>
            <a:endParaRPr lang="en-US" sz="950" dirty="0"/>
          </a:p>
        </p:txBody>
      </p:sp>
      <p:sp>
        <p:nvSpPr>
          <p:cNvPr id="12" name="Shape 9"/>
          <p:cNvSpPr/>
          <p:nvPr/>
        </p:nvSpPr>
        <p:spPr>
          <a:xfrm>
            <a:off x="2103120" y="1554480"/>
            <a:ext cx="1508760" cy="3017520"/>
          </a:xfrm>
          <a:prstGeom prst="rect">
            <a:avLst/>
          </a:prstGeom>
          <a:solidFill>
            <a:srgbClr val="172D67">
              <a:alpha val="60000"/>
            </a:srgbClr>
          </a:solidFill>
          <a:ln w="12700">
            <a:solidFill>
              <a:srgbClr val="2E73EA">
                <a:alpha val="40000"/>
              </a:srgbClr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2103120" y="1554480"/>
            <a:ext cx="1508760" cy="457200"/>
          </a:xfrm>
          <a:prstGeom prst="rect">
            <a:avLst/>
          </a:prstGeom>
          <a:solidFill>
            <a:srgbClr val="22DDD2"/>
          </a:solidFill>
          <a:ln w="12700">
            <a:solidFill>
              <a:srgbClr val="22DDD2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2103120" y="1554480"/>
            <a:ext cx="1508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707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1600" dirty="0"/>
          </a:p>
        </p:txBody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28900" y="2148840"/>
            <a:ext cx="457200" cy="457200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2194560" y="2697480"/>
            <a:ext cx="13258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22DDD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Engineer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b="1" dirty="0">
                <a:solidFill>
                  <a:srgbClr val="22DDD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Features</a:t>
            </a:r>
            <a:endParaRPr lang="en-US" sz="1150" dirty="0"/>
          </a:p>
        </p:txBody>
      </p:sp>
      <p:sp>
        <p:nvSpPr>
          <p:cNvPr id="17" name="Text 13"/>
          <p:cNvSpPr/>
          <p:nvPr/>
        </p:nvSpPr>
        <p:spPr>
          <a:xfrm>
            <a:off x="2194560" y="3337560"/>
            <a:ext cx="13258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C8D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Created new variables like meeting density &amp; stress-worklife ratio</a:t>
            </a:r>
            <a:endParaRPr lang="en-US" sz="950" dirty="0"/>
          </a:p>
        </p:txBody>
      </p:sp>
      <p:sp>
        <p:nvSpPr>
          <p:cNvPr id="18" name="Shape 14"/>
          <p:cNvSpPr/>
          <p:nvPr/>
        </p:nvSpPr>
        <p:spPr>
          <a:xfrm>
            <a:off x="3794760" y="1554480"/>
            <a:ext cx="1508760" cy="3017520"/>
          </a:xfrm>
          <a:prstGeom prst="rect">
            <a:avLst/>
          </a:prstGeom>
          <a:solidFill>
            <a:srgbClr val="172D67">
              <a:alpha val="60000"/>
            </a:srgbClr>
          </a:solidFill>
          <a:ln w="12700">
            <a:solidFill>
              <a:srgbClr val="2E73EA">
                <a:alpha val="40000"/>
              </a:srgbClr>
            </a:solidFill>
            <a:prstDash val="solid"/>
          </a:ln>
        </p:spPr>
      </p:sp>
      <p:sp>
        <p:nvSpPr>
          <p:cNvPr id="19" name="Shape 15"/>
          <p:cNvSpPr/>
          <p:nvPr/>
        </p:nvSpPr>
        <p:spPr>
          <a:xfrm>
            <a:off x="3794760" y="1554480"/>
            <a:ext cx="1508760" cy="457200"/>
          </a:xfrm>
          <a:prstGeom prst="rect">
            <a:avLst/>
          </a:prstGeom>
          <a:solidFill>
            <a:srgbClr val="22DDD2"/>
          </a:solidFill>
          <a:ln w="12700">
            <a:solidFill>
              <a:srgbClr val="22DDD2"/>
            </a:solidFill>
            <a:prstDash val="solid"/>
          </a:ln>
        </p:spPr>
      </p:sp>
      <p:sp>
        <p:nvSpPr>
          <p:cNvPr id="20" name="Text 16"/>
          <p:cNvSpPr/>
          <p:nvPr/>
        </p:nvSpPr>
        <p:spPr>
          <a:xfrm>
            <a:off x="3794760" y="1554480"/>
            <a:ext cx="1508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707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1600" dirty="0"/>
          </a:p>
        </p:txBody>
      </p:sp>
      <p:pic>
        <p:nvPicPr>
          <p:cNvPr id="2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20540" y="2148840"/>
            <a:ext cx="457200" cy="457200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3886200" y="2697480"/>
            <a:ext cx="13258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22DDD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Train ML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b="1" dirty="0">
                <a:solidFill>
                  <a:srgbClr val="22DDD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Models</a:t>
            </a:r>
            <a:endParaRPr lang="en-US" sz="1150" dirty="0"/>
          </a:p>
        </p:txBody>
      </p:sp>
      <p:sp>
        <p:nvSpPr>
          <p:cNvPr id="23" name="Text 18"/>
          <p:cNvSpPr/>
          <p:nvPr/>
        </p:nvSpPr>
        <p:spPr>
          <a:xfrm>
            <a:off x="3886200" y="3337560"/>
            <a:ext cx="13258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C8D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Compared 4 algorithms from simple Linear Regression to Gradient Boosting</a:t>
            </a:r>
            <a:endParaRPr lang="en-US" sz="950" dirty="0"/>
          </a:p>
        </p:txBody>
      </p:sp>
      <p:sp>
        <p:nvSpPr>
          <p:cNvPr id="24" name="Shape 19"/>
          <p:cNvSpPr/>
          <p:nvPr/>
        </p:nvSpPr>
        <p:spPr>
          <a:xfrm>
            <a:off x="5486400" y="1554480"/>
            <a:ext cx="1508760" cy="3017520"/>
          </a:xfrm>
          <a:prstGeom prst="rect">
            <a:avLst/>
          </a:prstGeom>
          <a:solidFill>
            <a:srgbClr val="172D67">
              <a:alpha val="60000"/>
            </a:srgbClr>
          </a:solidFill>
          <a:ln w="12700">
            <a:solidFill>
              <a:srgbClr val="2E73EA">
                <a:alpha val="40000"/>
              </a:srgbClr>
            </a:solidFill>
            <a:prstDash val="solid"/>
          </a:ln>
        </p:spPr>
      </p:sp>
      <p:sp>
        <p:nvSpPr>
          <p:cNvPr id="25" name="Shape 20"/>
          <p:cNvSpPr/>
          <p:nvPr/>
        </p:nvSpPr>
        <p:spPr>
          <a:xfrm>
            <a:off x="5486400" y="1554480"/>
            <a:ext cx="1508760" cy="457200"/>
          </a:xfrm>
          <a:prstGeom prst="rect">
            <a:avLst/>
          </a:prstGeom>
          <a:solidFill>
            <a:srgbClr val="22DDD2"/>
          </a:solidFill>
          <a:ln w="12700">
            <a:solidFill>
              <a:srgbClr val="22DDD2"/>
            </a:solidFill>
            <a:prstDash val="solid"/>
          </a:ln>
        </p:spPr>
      </p:sp>
      <p:sp>
        <p:nvSpPr>
          <p:cNvPr id="26" name="Text 21"/>
          <p:cNvSpPr/>
          <p:nvPr/>
        </p:nvSpPr>
        <p:spPr>
          <a:xfrm>
            <a:off x="5486400" y="1554480"/>
            <a:ext cx="1508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707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1600" dirty="0"/>
          </a:p>
        </p:txBody>
      </p:sp>
      <p:pic>
        <p:nvPicPr>
          <p:cNvPr id="2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12180" y="2148840"/>
            <a:ext cx="457200" cy="457200"/>
          </a:xfrm>
          <a:prstGeom prst="rect">
            <a:avLst/>
          </a:prstGeom>
        </p:spPr>
      </p:pic>
      <p:sp>
        <p:nvSpPr>
          <p:cNvPr id="28" name="Text 22"/>
          <p:cNvSpPr/>
          <p:nvPr/>
        </p:nvSpPr>
        <p:spPr>
          <a:xfrm>
            <a:off x="5577840" y="2697480"/>
            <a:ext cx="13258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22DDD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Evaluate &amp;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b="1" dirty="0">
                <a:solidFill>
                  <a:srgbClr val="22DDD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Interpret</a:t>
            </a:r>
            <a:endParaRPr lang="en-US" sz="1150" dirty="0"/>
          </a:p>
        </p:txBody>
      </p:sp>
      <p:sp>
        <p:nvSpPr>
          <p:cNvPr id="29" name="Text 23"/>
          <p:cNvSpPr/>
          <p:nvPr/>
        </p:nvSpPr>
        <p:spPr>
          <a:xfrm>
            <a:off x="5577840" y="3337560"/>
            <a:ext cx="13258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C8D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Identified which factors drive productivity and what thresholds matter</a:t>
            </a:r>
            <a:endParaRPr lang="en-US" sz="950" dirty="0"/>
          </a:p>
        </p:txBody>
      </p:sp>
      <p:sp>
        <p:nvSpPr>
          <p:cNvPr id="30" name="Shape 24"/>
          <p:cNvSpPr/>
          <p:nvPr/>
        </p:nvSpPr>
        <p:spPr>
          <a:xfrm>
            <a:off x="7178040" y="1554480"/>
            <a:ext cx="1508760" cy="3017520"/>
          </a:xfrm>
          <a:prstGeom prst="rect">
            <a:avLst/>
          </a:prstGeom>
          <a:solidFill>
            <a:srgbClr val="172D67">
              <a:alpha val="60000"/>
            </a:srgbClr>
          </a:solidFill>
          <a:ln w="12700">
            <a:solidFill>
              <a:srgbClr val="2E73EA">
                <a:alpha val="40000"/>
              </a:srgbClr>
            </a:solidFill>
            <a:prstDash val="solid"/>
          </a:ln>
        </p:spPr>
      </p:sp>
      <p:sp>
        <p:nvSpPr>
          <p:cNvPr id="31" name="Shape 25"/>
          <p:cNvSpPr/>
          <p:nvPr/>
        </p:nvSpPr>
        <p:spPr>
          <a:xfrm>
            <a:off x="7178040" y="1554480"/>
            <a:ext cx="1508760" cy="457200"/>
          </a:xfrm>
          <a:prstGeom prst="rect">
            <a:avLst/>
          </a:prstGeom>
          <a:solidFill>
            <a:srgbClr val="22DDD2"/>
          </a:solidFill>
          <a:ln w="12700">
            <a:solidFill>
              <a:srgbClr val="22DDD2"/>
            </a:solidFill>
            <a:prstDash val="solid"/>
          </a:ln>
        </p:spPr>
      </p:sp>
      <p:sp>
        <p:nvSpPr>
          <p:cNvPr id="32" name="Text 26"/>
          <p:cNvSpPr/>
          <p:nvPr/>
        </p:nvSpPr>
        <p:spPr>
          <a:xfrm>
            <a:off x="7178040" y="1554480"/>
            <a:ext cx="1508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707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05</a:t>
            </a:r>
            <a:endParaRPr lang="en-US" sz="1600" dirty="0"/>
          </a:p>
        </p:txBody>
      </p:sp>
      <p:pic>
        <p:nvPicPr>
          <p:cNvPr id="33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03820" y="2148840"/>
            <a:ext cx="457200" cy="457200"/>
          </a:xfrm>
          <a:prstGeom prst="rect">
            <a:avLst/>
          </a:prstGeom>
        </p:spPr>
      </p:pic>
      <p:sp>
        <p:nvSpPr>
          <p:cNvPr id="34" name="Text 27"/>
          <p:cNvSpPr/>
          <p:nvPr/>
        </p:nvSpPr>
        <p:spPr>
          <a:xfrm>
            <a:off x="7269480" y="2697480"/>
            <a:ext cx="13258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22DDD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Business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b="1" dirty="0">
                <a:solidFill>
                  <a:srgbClr val="22DDD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Recommendations</a:t>
            </a:r>
            <a:endParaRPr lang="en-US" sz="1150" dirty="0"/>
          </a:p>
        </p:txBody>
      </p:sp>
      <p:sp>
        <p:nvSpPr>
          <p:cNvPr id="35" name="Text 28"/>
          <p:cNvSpPr/>
          <p:nvPr/>
        </p:nvSpPr>
        <p:spPr>
          <a:xfrm>
            <a:off x="7269480" y="3337560"/>
            <a:ext cx="13258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C8D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Translated findings into clear, actionable guidance for leadership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0F2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686800" y="4846320"/>
            <a:ext cx="457200" cy="256032"/>
          </a:xfrm>
          <a:prstGeom prst="rect">
            <a:avLst/>
          </a:prstGeom>
          <a:solidFill>
            <a:srgbClr val="17072B"/>
          </a:solidFill>
          <a:ln w="12700">
            <a:solidFill>
              <a:srgbClr val="17072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686800" y="4846320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5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457200" y="228600"/>
            <a:ext cx="1737360" cy="256032"/>
          </a:xfrm>
          <a:prstGeom prst="roundRect">
            <a:avLst>
              <a:gd name="adj" fmla="val 50000"/>
            </a:avLst>
          </a:prstGeom>
          <a:solidFill>
            <a:srgbClr val="172D67"/>
          </a:solidFill>
          <a:ln w="12700">
            <a:solidFill>
              <a:srgbClr val="172D6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228600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200" kern="0" dirty="0">
                <a:solidFill>
                  <a:srgbClr val="FFFFFF"/>
                </a:solidFill>
              </a:rPr>
              <a:t>THE DATA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457200" y="59436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707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Two Complementary Datasets</a:t>
            </a:r>
            <a:endParaRPr lang="en-US" sz="3200" dirty="0"/>
          </a:p>
        </p:txBody>
      </p:sp>
      <p:sp>
        <p:nvSpPr>
          <p:cNvPr id="7" name="Shape 5"/>
          <p:cNvSpPr/>
          <p:nvPr/>
        </p:nvSpPr>
        <p:spPr>
          <a:xfrm>
            <a:off x="457200" y="1417320"/>
            <a:ext cx="4023360" cy="333756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57200" y="1417320"/>
            <a:ext cx="4023360" cy="640080"/>
          </a:xfrm>
          <a:prstGeom prst="rect">
            <a:avLst/>
          </a:prstGeom>
          <a:solidFill>
            <a:srgbClr val="172D67"/>
          </a:solidFill>
          <a:ln w="12700">
            <a:solidFill>
              <a:srgbClr val="172D67"/>
            </a:solidFill>
            <a:prstDash val="solid"/>
          </a:ln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1508760"/>
            <a:ext cx="384048" cy="384048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170432" y="1508760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Remote Worker Productivity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594360" y="2194560"/>
            <a:ext cx="10058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172D6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1,500</a:t>
            </a:r>
            <a:endParaRPr lang="en-US" sz="2800" dirty="0"/>
          </a:p>
        </p:txBody>
      </p:sp>
      <p:sp>
        <p:nvSpPr>
          <p:cNvPr id="12" name="Text 9"/>
          <p:cNvSpPr/>
          <p:nvPr/>
        </p:nvSpPr>
        <p:spPr>
          <a:xfrm>
            <a:off x="1645920" y="2286000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70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Employee Records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594360" y="2852928"/>
            <a:ext cx="10058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172D6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30</a:t>
            </a:r>
            <a:endParaRPr lang="en-US" sz="2800" dirty="0"/>
          </a:p>
        </p:txBody>
      </p:sp>
      <p:sp>
        <p:nvSpPr>
          <p:cNvPr id="14" name="Text 11"/>
          <p:cNvSpPr/>
          <p:nvPr/>
        </p:nvSpPr>
        <p:spPr>
          <a:xfrm>
            <a:off x="1645920" y="2944368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70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Variables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594360" y="3511296"/>
            <a:ext cx="10058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172D6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</a:t>
            </a:r>
            <a:endParaRPr lang="en-US" sz="2800" dirty="0"/>
          </a:p>
        </p:txBody>
      </p:sp>
      <p:sp>
        <p:nvSpPr>
          <p:cNvPr id="16" name="Text 13"/>
          <p:cNvSpPr/>
          <p:nvPr/>
        </p:nvSpPr>
        <p:spPr>
          <a:xfrm>
            <a:off x="1645920" y="3602736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70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 Values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594360" y="4206240"/>
            <a:ext cx="3749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7B8D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Hugging Face — measures work structure,</a:t>
            </a:r>
            <a:endParaRPr lang="en-US" sz="950" dirty="0"/>
          </a:p>
          <a:p>
            <a:pPr indent="0" marL="0">
              <a:buNone/>
            </a:pPr>
            <a:r>
              <a:rPr lang="en-US" sz="950" i="1" dirty="0">
                <a:solidFill>
                  <a:srgbClr val="7B8D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 scores, and employee wellbeing</a:t>
            </a:r>
            <a:endParaRPr lang="en-US" sz="950" dirty="0"/>
          </a:p>
        </p:txBody>
      </p:sp>
      <p:sp>
        <p:nvSpPr>
          <p:cNvPr id="18" name="Shape 15"/>
          <p:cNvSpPr/>
          <p:nvPr/>
        </p:nvSpPr>
        <p:spPr>
          <a:xfrm>
            <a:off x="4663440" y="1417320"/>
            <a:ext cx="4023360" cy="333756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Shape 16"/>
          <p:cNvSpPr/>
          <p:nvPr/>
        </p:nvSpPr>
        <p:spPr>
          <a:xfrm>
            <a:off x="4663440" y="1417320"/>
            <a:ext cx="4023360" cy="640080"/>
          </a:xfrm>
          <a:prstGeom prst="rect">
            <a:avLst/>
          </a:prstGeom>
          <a:solidFill>
            <a:srgbClr val="2E73EA"/>
          </a:solidFill>
          <a:ln w="12700">
            <a:solidFill>
              <a:srgbClr val="2E73EA"/>
            </a:solidFill>
            <a:prstDash val="solid"/>
          </a:ln>
        </p:spPr>
      </p:sp>
      <p:pic>
        <p:nvPicPr>
          <p:cNvPr id="2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92040" y="1508760"/>
            <a:ext cx="384048" cy="384048"/>
          </a:xfrm>
          <a:prstGeom prst="rect">
            <a:avLst/>
          </a:prstGeom>
        </p:spPr>
      </p:pic>
      <p:sp>
        <p:nvSpPr>
          <p:cNvPr id="21" name="Text 17"/>
          <p:cNvSpPr/>
          <p:nvPr/>
        </p:nvSpPr>
        <p:spPr>
          <a:xfrm>
            <a:off x="5376672" y="1508760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Focus and Distraction</a:t>
            </a:r>
            <a:endParaRPr lang="en-US" sz="1300" dirty="0"/>
          </a:p>
        </p:txBody>
      </p:sp>
      <p:sp>
        <p:nvSpPr>
          <p:cNvPr id="22" name="Text 18"/>
          <p:cNvSpPr/>
          <p:nvPr/>
        </p:nvSpPr>
        <p:spPr>
          <a:xfrm>
            <a:off x="4800600" y="2194560"/>
            <a:ext cx="10058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2E73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790</a:t>
            </a:r>
            <a:endParaRPr lang="en-US" sz="2800" dirty="0"/>
          </a:p>
        </p:txBody>
      </p:sp>
      <p:sp>
        <p:nvSpPr>
          <p:cNvPr id="23" name="Text 19"/>
          <p:cNvSpPr/>
          <p:nvPr/>
        </p:nvSpPr>
        <p:spPr>
          <a:xfrm>
            <a:off x="5852160" y="2286000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70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Behavioral Records</a:t>
            </a:r>
            <a:endParaRPr lang="en-US" sz="1200" dirty="0"/>
          </a:p>
        </p:txBody>
      </p:sp>
      <p:sp>
        <p:nvSpPr>
          <p:cNvPr id="24" name="Text 20"/>
          <p:cNvSpPr/>
          <p:nvPr/>
        </p:nvSpPr>
        <p:spPr>
          <a:xfrm>
            <a:off x="4800600" y="2852928"/>
            <a:ext cx="10058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2E73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19</a:t>
            </a:r>
            <a:endParaRPr lang="en-US" sz="2800" dirty="0"/>
          </a:p>
        </p:txBody>
      </p:sp>
      <p:sp>
        <p:nvSpPr>
          <p:cNvPr id="25" name="Text 21"/>
          <p:cNvSpPr/>
          <p:nvPr/>
        </p:nvSpPr>
        <p:spPr>
          <a:xfrm>
            <a:off x="5852160" y="2944368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70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Variables</a:t>
            </a:r>
            <a:endParaRPr lang="en-US" sz="1200" dirty="0"/>
          </a:p>
        </p:txBody>
      </p:sp>
      <p:sp>
        <p:nvSpPr>
          <p:cNvPr id="26" name="Text 22"/>
          <p:cNvSpPr/>
          <p:nvPr/>
        </p:nvSpPr>
        <p:spPr>
          <a:xfrm>
            <a:off x="4800600" y="3511296"/>
            <a:ext cx="10058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2E73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2800" dirty="0"/>
          </a:p>
        </p:txBody>
      </p:sp>
      <p:sp>
        <p:nvSpPr>
          <p:cNvPr id="27" name="Text 23"/>
          <p:cNvSpPr/>
          <p:nvPr/>
        </p:nvSpPr>
        <p:spPr>
          <a:xfrm>
            <a:off x="5852160" y="3602736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70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Distraction Signals</a:t>
            </a:r>
            <a:endParaRPr lang="en-US" sz="1200" dirty="0"/>
          </a:p>
        </p:txBody>
      </p:sp>
      <p:sp>
        <p:nvSpPr>
          <p:cNvPr id="28" name="Text 24"/>
          <p:cNvSpPr/>
          <p:nvPr/>
        </p:nvSpPr>
        <p:spPr>
          <a:xfrm>
            <a:off x="4800600" y="4206240"/>
            <a:ext cx="3749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7B8D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Human Clarity Institute — captures</a:t>
            </a:r>
            <a:endParaRPr lang="en-US" sz="950" dirty="0"/>
          </a:p>
          <a:p>
            <a:pPr indent="0" marL="0">
              <a:buNone/>
            </a:pPr>
            <a:r>
              <a:rPr lang="en-US" sz="950" i="1" dirty="0">
                <a:solidFill>
                  <a:srgbClr val="7B8D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focus duration, distractions, and cognitive fatigue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F2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686800" y="4846320"/>
            <a:ext cx="457200" cy="256032"/>
          </a:xfrm>
          <a:prstGeom prst="rect">
            <a:avLst/>
          </a:prstGeom>
          <a:solidFill>
            <a:srgbClr val="17072B"/>
          </a:solidFill>
          <a:ln w="12700">
            <a:solidFill>
              <a:srgbClr val="17072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686800" y="4846320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6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457200" y="228600"/>
            <a:ext cx="1737360" cy="256032"/>
          </a:xfrm>
          <a:prstGeom prst="roundRect">
            <a:avLst>
              <a:gd name="adj" fmla="val 50000"/>
            </a:avLst>
          </a:prstGeom>
          <a:solidFill>
            <a:srgbClr val="172D67"/>
          </a:solidFill>
          <a:ln w="12700">
            <a:solidFill>
              <a:srgbClr val="172D6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228600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200" kern="0" dirty="0">
                <a:solidFill>
                  <a:srgbClr val="FFFFFF"/>
                </a:solidFill>
              </a:rPr>
              <a:t>KEY FINDING 1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457200" y="59436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707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Productivity Varies Widely Across Employees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411480" y="1417320"/>
            <a:ext cx="196596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11480" y="3017520"/>
            <a:ext cx="1965960" cy="91440"/>
          </a:xfrm>
          <a:prstGeom prst="rect">
            <a:avLst/>
          </a:prstGeom>
          <a:solidFill>
            <a:srgbClr val="2E73EA"/>
          </a:solidFill>
          <a:ln w="12700">
            <a:solidFill>
              <a:srgbClr val="2E73E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11480" y="1508760"/>
            <a:ext cx="1965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2E73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83</a:t>
            </a:r>
            <a:endParaRPr lang="en-US" sz="4200" dirty="0"/>
          </a:p>
        </p:txBody>
      </p:sp>
      <p:sp>
        <p:nvSpPr>
          <p:cNvPr id="10" name="Text 8"/>
          <p:cNvSpPr/>
          <p:nvPr/>
        </p:nvSpPr>
        <p:spPr>
          <a:xfrm>
            <a:off x="411480" y="2331720"/>
            <a:ext cx="19659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70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Score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170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(out of 100)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2560320" y="1417320"/>
            <a:ext cx="196596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2560320" y="3017520"/>
            <a:ext cx="1965960" cy="91440"/>
          </a:xfrm>
          <a:prstGeom prst="rect">
            <a:avLst/>
          </a:prstGeom>
          <a:solidFill>
            <a:srgbClr val="8C15E9"/>
          </a:solidFill>
          <a:ln w="12700">
            <a:solidFill>
              <a:srgbClr val="8C15E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560320" y="1508760"/>
            <a:ext cx="1965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8C15E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35</a:t>
            </a:r>
            <a:endParaRPr lang="en-US" sz="4200" dirty="0"/>
          </a:p>
        </p:txBody>
      </p:sp>
      <p:sp>
        <p:nvSpPr>
          <p:cNvPr id="14" name="Text 12"/>
          <p:cNvSpPr/>
          <p:nvPr/>
        </p:nvSpPr>
        <p:spPr>
          <a:xfrm>
            <a:off x="2560320" y="2331720"/>
            <a:ext cx="19659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70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Lowest Score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170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Observed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709160" y="1417320"/>
            <a:ext cx="196596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709160" y="3017520"/>
            <a:ext cx="1965960" cy="91440"/>
          </a:xfrm>
          <a:prstGeom prst="rect">
            <a:avLst/>
          </a:prstGeom>
          <a:solidFill>
            <a:srgbClr val="22DDD2"/>
          </a:solidFill>
          <a:ln w="12700">
            <a:solidFill>
              <a:srgbClr val="22DDD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709160" y="1508760"/>
            <a:ext cx="1965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22DDD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98</a:t>
            </a:r>
            <a:endParaRPr lang="en-US" sz="4200" dirty="0"/>
          </a:p>
        </p:txBody>
      </p:sp>
      <p:sp>
        <p:nvSpPr>
          <p:cNvPr id="18" name="Text 16"/>
          <p:cNvSpPr/>
          <p:nvPr/>
        </p:nvSpPr>
        <p:spPr>
          <a:xfrm>
            <a:off x="4709160" y="2331720"/>
            <a:ext cx="19659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70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Highest Score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170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Observed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858000" y="1417320"/>
            <a:ext cx="196596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858000" y="3017520"/>
            <a:ext cx="1965960" cy="91440"/>
          </a:xfrm>
          <a:prstGeom prst="rect">
            <a:avLst/>
          </a:prstGeom>
          <a:solidFill>
            <a:srgbClr val="172D67"/>
          </a:solidFill>
          <a:ln w="12700">
            <a:solidFill>
              <a:srgbClr val="172D67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858000" y="1508760"/>
            <a:ext cx="1965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172D6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15pt</a:t>
            </a:r>
            <a:endParaRPr lang="en-US" sz="4200" dirty="0"/>
          </a:p>
        </p:txBody>
      </p:sp>
      <p:sp>
        <p:nvSpPr>
          <p:cNvPr id="22" name="Text 20"/>
          <p:cNvSpPr/>
          <p:nvPr/>
        </p:nvSpPr>
        <p:spPr>
          <a:xfrm>
            <a:off x="6858000" y="2331720"/>
            <a:ext cx="19659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70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170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Deviation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57200" y="33375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707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this means for your business: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457200" y="3639312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70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There is significant untapped potential. </a:t>
            </a:r>
            <a:pPr indent="0" marL="0">
              <a:buNone/>
            </a:pPr>
            <a:r>
              <a:rPr lang="en-US" sz="1200" dirty="0">
                <a:solidFill>
                  <a:srgbClr val="170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63-point spread between the highest and lowest performers signals that work structure — not just talent — shapes outcomes. This is exactly the kind of variability that data-driven interventions can address.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0F2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686800" y="4846320"/>
            <a:ext cx="457200" cy="256032"/>
          </a:xfrm>
          <a:prstGeom prst="rect">
            <a:avLst/>
          </a:prstGeom>
          <a:solidFill>
            <a:srgbClr val="17072B"/>
          </a:solidFill>
          <a:ln w="12700">
            <a:solidFill>
              <a:srgbClr val="17072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686800" y="4846320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7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457200" y="228600"/>
            <a:ext cx="1737360" cy="256032"/>
          </a:xfrm>
          <a:prstGeom prst="roundRect">
            <a:avLst>
              <a:gd name="adj" fmla="val 50000"/>
            </a:avLst>
          </a:prstGeom>
          <a:solidFill>
            <a:srgbClr val="172D67"/>
          </a:solidFill>
          <a:ln w="12700">
            <a:solidFill>
              <a:srgbClr val="172D6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228600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200" kern="0" dirty="0">
                <a:solidFill>
                  <a:srgbClr val="FFFFFF"/>
                </a:solidFill>
              </a:rPr>
              <a:t>KEY FINDING 2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457200" y="59436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707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Actually Drives Productivity?</a:t>
            </a:r>
            <a:endParaRPr lang="en-US" sz="3200" dirty="0"/>
          </a:p>
        </p:txBody>
      </p:sp>
      <p:sp>
        <p:nvSpPr>
          <p:cNvPr id="7" name="Shape 5"/>
          <p:cNvSpPr/>
          <p:nvPr/>
        </p:nvSpPr>
        <p:spPr>
          <a:xfrm>
            <a:off x="457200" y="1444752"/>
            <a:ext cx="8229600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D8E0F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1499616"/>
            <a:ext cx="2194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70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Job Satisfaction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2834640" y="1536192"/>
            <a:ext cx="5029200" cy="246888"/>
          </a:xfrm>
          <a:prstGeom prst="rect">
            <a:avLst/>
          </a:prstGeom>
          <a:solidFill>
            <a:srgbClr val="DDE3F8"/>
          </a:solidFill>
          <a:ln w="12700">
            <a:solidFill>
              <a:srgbClr val="DDE3F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834640" y="1536192"/>
            <a:ext cx="5029200" cy="246888"/>
          </a:xfrm>
          <a:prstGeom prst="rect">
            <a:avLst/>
          </a:prstGeom>
          <a:solidFill>
            <a:srgbClr val="172D67"/>
          </a:solidFill>
          <a:ln w="12700">
            <a:solidFill>
              <a:srgbClr val="172D6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918704" y="1536192"/>
            <a:ext cx="73152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70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2.79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57200" y="1920240"/>
            <a:ext cx="8229600" cy="420624"/>
          </a:xfrm>
          <a:prstGeom prst="rect">
            <a:avLst/>
          </a:prstGeom>
          <a:solidFill>
            <a:srgbClr val="EEF2FF"/>
          </a:solidFill>
          <a:ln w="12700">
            <a:solidFill>
              <a:srgbClr val="D8E0F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48640" y="1975104"/>
            <a:ext cx="2194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70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 Office Quality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2834640" y="2011680"/>
            <a:ext cx="5029200" cy="246888"/>
          </a:xfrm>
          <a:prstGeom prst="rect">
            <a:avLst/>
          </a:prstGeom>
          <a:solidFill>
            <a:srgbClr val="DDE3F8"/>
          </a:solidFill>
          <a:ln w="12700">
            <a:solidFill>
              <a:srgbClr val="DDE3F8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834640" y="2011680"/>
            <a:ext cx="502920" cy="246888"/>
          </a:xfrm>
          <a:prstGeom prst="rect">
            <a:avLst/>
          </a:prstGeom>
          <a:solidFill>
            <a:srgbClr val="2E73EA"/>
          </a:solidFill>
          <a:ln w="12700">
            <a:solidFill>
              <a:srgbClr val="2E73E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392424" y="2011680"/>
            <a:ext cx="73152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70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0.28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57200" y="2395728"/>
            <a:ext cx="8229600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D8E0F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48640" y="2450592"/>
            <a:ext cx="2194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70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Years of Experience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2834640" y="2487168"/>
            <a:ext cx="5029200" cy="246888"/>
          </a:xfrm>
          <a:prstGeom prst="rect">
            <a:avLst/>
          </a:prstGeom>
          <a:solidFill>
            <a:srgbClr val="DDE3F8"/>
          </a:solidFill>
          <a:ln w="12700">
            <a:solidFill>
              <a:srgbClr val="DDE3F8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834640" y="2487168"/>
            <a:ext cx="412394" cy="246888"/>
          </a:xfrm>
          <a:prstGeom prst="rect">
            <a:avLst/>
          </a:prstGeom>
          <a:solidFill>
            <a:srgbClr val="2E73EA"/>
          </a:solidFill>
          <a:ln w="12700">
            <a:solidFill>
              <a:srgbClr val="2E73E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301898" y="2487168"/>
            <a:ext cx="73152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70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0.23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57200" y="2871216"/>
            <a:ext cx="8229600" cy="420624"/>
          </a:xfrm>
          <a:prstGeom prst="rect">
            <a:avLst/>
          </a:prstGeom>
          <a:solidFill>
            <a:srgbClr val="EEF2FF"/>
          </a:solidFill>
          <a:ln w="12700">
            <a:solidFill>
              <a:srgbClr val="D8E0F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48640" y="2926080"/>
            <a:ext cx="2194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70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2834640" y="2962656"/>
            <a:ext cx="5029200" cy="246888"/>
          </a:xfrm>
          <a:prstGeom prst="rect">
            <a:avLst/>
          </a:prstGeom>
          <a:solidFill>
            <a:srgbClr val="DDE3F8"/>
          </a:solidFill>
          <a:ln w="12700">
            <a:solidFill>
              <a:srgbClr val="DDE3F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834640" y="2962656"/>
            <a:ext cx="306781" cy="246888"/>
          </a:xfrm>
          <a:prstGeom prst="rect">
            <a:avLst/>
          </a:prstGeom>
          <a:solidFill>
            <a:srgbClr val="2E73EA"/>
          </a:solidFill>
          <a:ln w="12700">
            <a:solidFill>
              <a:srgbClr val="2E73E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196285" y="2962656"/>
            <a:ext cx="73152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70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0.17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457200" y="3346704"/>
            <a:ext cx="8229600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D8E0F8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48640" y="3401568"/>
            <a:ext cx="2194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70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Manager Support Level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2834640" y="3438144"/>
            <a:ext cx="5029200" cy="246888"/>
          </a:xfrm>
          <a:prstGeom prst="rect">
            <a:avLst/>
          </a:prstGeom>
          <a:solidFill>
            <a:srgbClr val="DDE3F8"/>
          </a:solidFill>
          <a:ln w="12700">
            <a:solidFill>
              <a:srgbClr val="DDE3F8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2834640" y="3438144"/>
            <a:ext cx="109728" cy="246888"/>
          </a:xfrm>
          <a:prstGeom prst="rect">
            <a:avLst/>
          </a:prstGeom>
          <a:solidFill>
            <a:srgbClr val="8C15E9"/>
          </a:solidFill>
          <a:ln w="12700">
            <a:solidFill>
              <a:srgbClr val="8C15E9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2999232" y="3438144"/>
            <a:ext cx="73152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70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0.05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457200" y="3822192"/>
            <a:ext cx="8229600" cy="420624"/>
          </a:xfrm>
          <a:prstGeom prst="rect">
            <a:avLst/>
          </a:prstGeom>
          <a:solidFill>
            <a:srgbClr val="EEF2FF"/>
          </a:solidFill>
          <a:ln w="12700">
            <a:solidFill>
              <a:srgbClr val="D8E0F8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48640" y="3877056"/>
            <a:ext cx="2194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70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Meetings Per Week</a:t>
            </a:r>
            <a:endParaRPr lang="en-US" sz="1150" dirty="0"/>
          </a:p>
        </p:txBody>
      </p:sp>
      <p:sp>
        <p:nvSpPr>
          <p:cNvPr id="34" name="Shape 32"/>
          <p:cNvSpPr/>
          <p:nvPr/>
        </p:nvSpPr>
        <p:spPr>
          <a:xfrm>
            <a:off x="2834640" y="3913632"/>
            <a:ext cx="5029200" cy="246888"/>
          </a:xfrm>
          <a:prstGeom prst="rect">
            <a:avLst/>
          </a:prstGeom>
          <a:solidFill>
            <a:srgbClr val="DDE3F8"/>
          </a:solidFill>
          <a:ln w="12700">
            <a:solidFill>
              <a:srgbClr val="DDE3F8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2834640" y="3913632"/>
            <a:ext cx="109728" cy="246888"/>
          </a:xfrm>
          <a:prstGeom prst="rect">
            <a:avLst/>
          </a:prstGeom>
          <a:solidFill>
            <a:srgbClr val="22DDD2"/>
          </a:solidFill>
          <a:ln w="12700">
            <a:solidFill>
              <a:srgbClr val="22DDD2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2999232" y="3913632"/>
            <a:ext cx="73152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70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0.023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457200" y="4297680"/>
            <a:ext cx="8229600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D8E0F8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48640" y="4352544"/>
            <a:ext cx="2194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70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Collaboration Freq.</a:t>
            </a:r>
            <a:endParaRPr lang="en-US" sz="1150" dirty="0"/>
          </a:p>
        </p:txBody>
      </p:sp>
      <p:sp>
        <p:nvSpPr>
          <p:cNvPr id="39" name="Shape 37"/>
          <p:cNvSpPr/>
          <p:nvPr/>
        </p:nvSpPr>
        <p:spPr>
          <a:xfrm>
            <a:off x="2834640" y="4389120"/>
            <a:ext cx="5029200" cy="246888"/>
          </a:xfrm>
          <a:prstGeom prst="rect">
            <a:avLst/>
          </a:prstGeom>
          <a:solidFill>
            <a:srgbClr val="DDE3F8"/>
          </a:solidFill>
          <a:ln w="12700">
            <a:solidFill>
              <a:srgbClr val="DDE3F8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2834640" y="4389120"/>
            <a:ext cx="109728" cy="246888"/>
          </a:xfrm>
          <a:prstGeom prst="rect">
            <a:avLst/>
          </a:prstGeom>
          <a:solidFill>
            <a:srgbClr val="22DDD2"/>
          </a:solidFill>
          <a:ln w="12700">
            <a:solidFill>
              <a:srgbClr val="22DDD2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2999232" y="4389120"/>
            <a:ext cx="73152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70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0.023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457200" y="4800600"/>
            <a:ext cx="8229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7B8D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Importance values from permutation feature importance on Gradient Boosting model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0F2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686800" y="4846320"/>
            <a:ext cx="457200" cy="256032"/>
          </a:xfrm>
          <a:prstGeom prst="rect">
            <a:avLst/>
          </a:prstGeom>
          <a:solidFill>
            <a:srgbClr val="17072B"/>
          </a:solidFill>
          <a:ln w="12700">
            <a:solidFill>
              <a:srgbClr val="17072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686800" y="4846320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8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457200" y="228600"/>
            <a:ext cx="1737360" cy="256032"/>
          </a:xfrm>
          <a:prstGeom prst="roundRect">
            <a:avLst>
              <a:gd name="adj" fmla="val 50000"/>
            </a:avLst>
          </a:prstGeom>
          <a:solidFill>
            <a:srgbClr val="172D67"/>
          </a:solidFill>
          <a:ln w="12700">
            <a:solidFill>
              <a:srgbClr val="172D6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228600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200" kern="0" dirty="0">
                <a:solidFill>
                  <a:srgbClr val="FFFFFF"/>
                </a:solidFill>
              </a:rPr>
              <a:t>KEY FINDING 3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457200" y="59436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707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More Activity ≠ More Productivity</a:t>
            </a:r>
            <a:endParaRPr lang="en-US" sz="3200" dirty="0"/>
          </a:p>
        </p:txBody>
      </p:sp>
      <p:sp>
        <p:nvSpPr>
          <p:cNvPr id="7" name="Shape 5"/>
          <p:cNvSpPr/>
          <p:nvPr/>
        </p:nvSpPr>
        <p:spPr>
          <a:xfrm>
            <a:off x="457200" y="1417320"/>
            <a:ext cx="3977640" cy="338328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57200" y="1417320"/>
            <a:ext cx="3977640" cy="457200"/>
          </a:xfrm>
          <a:prstGeom prst="rect">
            <a:avLst/>
          </a:prstGeom>
          <a:solidFill>
            <a:srgbClr val="172D67"/>
          </a:solidFill>
          <a:ln w="12700">
            <a:solidFill>
              <a:srgbClr val="172D6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1508760"/>
            <a:ext cx="3794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2DDD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Diminishing Returns Effect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94360" y="2011680"/>
            <a:ext cx="475488" cy="475488"/>
          </a:xfrm>
          <a:prstGeom prst="ellipse">
            <a:avLst/>
          </a:prstGeom>
          <a:solidFill>
            <a:srgbClr val="8C15E9"/>
          </a:solidFill>
          <a:ln w="12700">
            <a:solidFill>
              <a:srgbClr val="8C15E9"/>
            </a:solidFill>
            <a:prstDash val="solid"/>
          </a:ln>
        </p:spPr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4944" y="2112264"/>
            <a:ext cx="274320" cy="274320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1188720" y="2011680"/>
            <a:ext cx="31089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70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Increasing meeting load beyond an optimal point does not improve outcomes — and can actively reduce them.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594360" y="2697480"/>
            <a:ext cx="475488" cy="475488"/>
          </a:xfrm>
          <a:prstGeom prst="ellipse">
            <a:avLst/>
          </a:prstGeom>
          <a:solidFill>
            <a:srgbClr val="8C15E9"/>
          </a:solidFill>
          <a:ln w="12700">
            <a:solidFill>
              <a:srgbClr val="8C15E9"/>
            </a:solidFill>
            <a:prstDash val="solid"/>
          </a:ln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4944" y="2798064"/>
            <a:ext cx="274320" cy="274320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1188720" y="2697480"/>
            <a:ext cx="31089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70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Working longer hours shows weak or negative correlation with productivity, especially under high stress.</a:t>
            </a:r>
            <a:endParaRPr lang="en-US" sz="1100" dirty="0"/>
          </a:p>
        </p:txBody>
      </p:sp>
      <p:sp>
        <p:nvSpPr>
          <p:cNvPr id="16" name="Shape 12"/>
          <p:cNvSpPr/>
          <p:nvPr/>
        </p:nvSpPr>
        <p:spPr>
          <a:xfrm>
            <a:off x="594360" y="3383280"/>
            <a:ext cx="475488" cy="475488"/>
          </a:xfrm>
          <a:prstGeom prst="ellipse">
            <a:avLst/>
          </a:prstGeom>
          <a:solidFill>
            <a:srgbClr val="8C15E9"/>
          </a:solidFill>
          <a:ln w="12700">
            <a:solidFill>
              <a:srgbClr val="8C15E9"/>
            </a:solidFill>
            <a:prstDash val="solid"/>
          </a:ln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4944" y="3483864"/>
            <a:ext cx="274320" cy="27432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188720" y="3383280"/>
            <a:ext cx="31089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70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Employees reporting high stress and poor work-life balance show significantly lower productivity scores.</a:t>
            </a:r>
            <a:endParaRPr lang="en-US" sz="1100" dirty="0"/>
          </a:p>
        </p:txBody>
      </p:sp>
      <p:sp>
        <p:nvSpPr>
          <p:cNvPr id="19" name="Shape 14"/>
          <p:cNvSpPr/>
          <p:nvPr/>
        </p:nvSpPr>
        <p:spPr>
          <a:xfrm>
            <a:off x="594360" y="4069080"/>
            <a:ext cx="475488" cy="475488"/>
          </a:xfrm>
          <a:prstGeom prst="ellipse">
            <a:avLst/>
          </a:prstGeom>
          <a:solidFill>
            <a:srgbClr val="8C15E9"/>
          </a:solidFill>
          <a:ln w="12700">
            <a:solidFill>
              <a:srgbClr val="8C15E9"/>
            </a:solidFill>
            <a:prstDash val="solid"/>
          </a:ln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4944" y="4169664"/>
            <a:ext cx="274320" cy="274320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1188720" y="4069080"/>
            <a:ext cx="31089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70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Simply adding more activity — without protecting focus time — creates the feeling of productivity without the results.</a:t>
            </a:r>
            <a:endParaRPr lang="en-US" sz="1100" dirty="0"/>
          </a:p>
        </p:txBody>
      </p:sp>
      <p:sp>
        <p:nvSpPr>
          <p:cNvPr id="22" name="Shape 16"/>
          <p:cNvSpPr/>
          <p:nvPr/>
        </p:nvSpPr>
        <p:spPr>
          <a:xfrm>
            <a:off x="4617720" y="1417320"/>
            <a:ext cx="4069080" cy="3383280"/>
          </a:xfrm>
          <a:prstGeom prst="rect">
            <a:avLst/>
          </a:prstGeom>
          <a:solidFill>
            <a:srgbClr val="17072B"/>
          </a:solidFill>
          <a:ln w="12700">
            <a:solidFill>
              <a:srgbClr val="17072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Text 17"/>
          <p:cNvSpPr/>
          <p:nvPr/>
        </p:nvSpPr>
        <p:spPr>
          <a:xfrm>
            <a:off x="4754880" y="1600200"/>
            <a:ext cx="3749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2DDD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Productivity Paradox</a:t>
            </a:r>
            <a:endParaRPr lang="en-US" sz="1500" dirty="0"/>
          </a:p>
        </p:txBody>
      </p:sp>
      <p:sp>
        <p:nvSpPr>
          <p:cNvPr id="24" name="Shape 18"/>
          <p:cNvSpPr/>
          <p:nvPr/>
        </p:nvSpPr>
        <p:spPr>
          <a:xfrm>
            <a:off x="4800600" y="2148840"/>
            <a:ext cx="3703320" cy="713232"/>
          </a:xfrm>
          <a:prstGeom prst="rect">
            <a:avLst/>
          </a:prstGeom>
          <a:solidFill>
            <a:srgbClr val="22DDD2">
              <a:alpha val="80000"/>
            </a:srgbClr>
          </a:solidFill>
          <a:ln w="12700">
            <a:solidFill>
              <a:srgbClr val="22DDD2"/>
            </a:solidFill>
            <a:prstDash val="solid"/>
          </a:ln>
        </p:spPr>
      </p:sp>
      <p:sp>
        <p:nvSpPr>
          <p:cNvPr id="25" name="Text 19"/>
          <p:cNvSpPr/>
          <p:nvPr/>
        </p:nvSpPr>
        <p:spPr>
          <a:xfrm>
            <a:off x="4892040" y="2212848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Few Meetings</a:t>
            </a:r>
            <a:endParaRPr lang="en-US" sz="1100" dirty="0"/>
          </a:p>
        </p:txBody>
      </p:sp>
      <p:sp>
        <p:nvSpPr>
          <p:cNvPr id="26" name="Text 20"/>
          <p:cNvSpPr/>
          <p:nvPr/>
        </p:nvSpPr>
        <p:spPr>
          <a:xfrm>
            <a:off x="4892040" y="2487168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Focus</a:t>
            </a:r>
            <a:endParaRPr lang="en-US" sz="1000" dirty="0"/>
          </a:p>
        </p:txBody>
      </p:sp>
      <p:sp>
        <p:nvSpPr>
          <p:cNvPr id="27" name="Text 21"/>
          <p:cNvSpPr/>
          <p:nvPr/>
        </p:nvSpPr>
        <p:spPr>
          <a:xfrm>
            <a:off x="6766560" y="2304288"/>
            <a:ext cx="1645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↑ Productivity</a:t>
            </a:r>
            <a:endParaRPr lang="en-US" sz="1500" dirty="0"/>
          </a:p>
        </p:txBody>
      </p:sp>
      <p:sp>
        <p:nvSpPr>
          <p:cNvPr id="28" name="Shape 22"/>
          <p:cNvSpPr/>
          <p:nvPr/>
        </p:nvSpPr>
        <p:spPr>
          <a:xfrm>
            <a:off x="4800600" y="2990088"/>
            <a:ext cx="3703320" cy="713232"/>
          </a:xfrm>
          <a:prstGeom prst="rect">
            <a:avLst/>
          </a:prstGeom>
          <a:solidFill>
            <a:srgbClr val="2E73EA">
              <a:alpha val="70000"/>
            </a:srgbClr>
          </a:solidFill>
          <a:ln w="12700">
            <a:solidFill>
              <a:srgbClr val="2E73EA"/>
            </a:solidFill>
            <a:prstDash val="solid"/>
          </a:ln>
        </p:spPr>
      </p:sp>
      <p:sp>
        <p:nvSpPr>
          <p:cNvPr id="29" name="Text 23"/>
          <p:cNvSpPr/>
          <p:nvPr/>
        </p:nvSpPr>
        <p:spPr>
          <a:xfrm>
            <a:off x="4892040" y="3054096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Moderate Meetings</a:t>
            </a:r>
            <a:endParaRPr lang="en-US" sz="1100" dirty="0"/>
          </a:p>
        </p:txBody>
      </p:sp>
      <p:sp>
        <p:nvSpPr>
          <p:cNvPr id="30" name="Text 24"/>
          <p:cNvSpPr/>
          <p:nvPr/>
        </p:nvSpPr>
        <p:spPr>
          <a:xfrm>
            <a:off x="4892040" y="3328416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Balanced</a:t>
            </a:r>
            <a:endParaRPr lang="en-US" sz="1000" dirty="0"/>
          </a:p>
        </p:txBody>
      </p:sp>
      <p:sp>
        <p:nvSpPr>
          <p:cNvPr id="31" name="Text 25"/>
          <p:cNvSpPr/>
          <p:nvPr/>
        </p:nvSpPr>
        <p:spPr>
          <a:xfrm>
            <a:off x="6766560" y="3145536"/>
            <a:ext cx="1645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→ Stable</a:t>
            </a:r>
            <a:endParaRPr lang="en-US" sz="1500" dirty="0"/>
          </a:p>
        </p:txBody>
      </p:sp>
      <p:sp>
        <p:nvSpPr>
          <p:cNvPr id="32" name="Shape 26"/>
          <p:cNvSpPr/>
          <p:nvPr/>
        </p:nvSpPr>
        <p:spPr>
          <a:xfrm>
            <a:off x="4800600" y="3831336"/>
            <a:ext cx="3703320" cy="713232"/>
          </a:xfrm>
          <a:prstGeom prst="rect">
            <a:avLst/>
          </a:prstGeom>
          <a:solidFill>
            <a:srgbClr val="8C15E9">
              <a:alpha val="80000"/>
            </a:srgbClr>
          </a:solidFill>
          <a:ln w="12700">
            <a:solidFill>
              <a:srgbClr val="8C15E9"/>
            </a:solidFill>
            <a:prstDash val="solid"/>
          </a:ln>
        </p:spPr>
      </p:sp>
      <p:sp>
        <p:nvSpPr>
          <p:cNvPr id="33" name="Text 27"/>
          <p:cNvSpPr/>
          <p:nvPr/>
        </p:nvSpPr>
        <p:spPr>
          <a:xfrm>
            <a:off x="4892040" y="3895344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Heavy Meeting Load</a:t>
            </a:r>
            <a:endParaRPr lang="en-US" sz="1100" dirty="0"/>
          </a:p>
        </p:txBody>
      </p:sp>
      <p:sp>
        <p:nvSpPr>
          <p:cNvPr id="34" name="Text 28"/>
          <p:cNvSpPr/>
          <p:nvPr/>
        </p:nvSpPr>
        <p:spPr>
          <a:xfrm>
            <a:off x="4892040" y="4169664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Fragmented</a:t>
            </a:r>
            <a:endParaRPr lang="en-US" sz="1000" dirty="0"/>
          </a:p>
        </p:txBody>
      </p:sp>
      <p:sp>
        <p:nvSpPr>
          <p:cNvPr id="35" name="Text 29"/>
          <p:cNvSpPr/>
          <p:nvPr/>
        </p:nvSpPr>
        <p:spPr>
          <a:xfrm>
            <a:off x="6766560" y="3986784"/>
            <a:ext cx="1645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↓ Drops</a:t>
            </a:r>
            <a:endParaRPr lang="en-US" sz="15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0F2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686800" y="4846320"/>
            <a:ext cx="457200" cy="256032"/>
          </a:xfrm>
          <a:prstGeom prst="rect">
            <a:avLst/>
          </a:prstGeom>
          <a:solidFill>
            <a:srgbClr val="17072B"/>
          </a:solidFill>
          <a:ln w="12700">
            <a:solidFill>
              <a:srgbClr val="17072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686800" y="4846320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9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457200" y="228600"/>
            <a:ext cx="1737360" cy="256032"/>
          </a:xfrm>
          <a:prstGeom prst="roundRect">
            <a:avLst>
              <a:gd name="adj" fmla="val 50000"/>
            </a:avLst>
          </a:prstGeom>
          <a:solidFill>
            <a:srgbClr val="172D67"/>
          </a:solidFill>
          <a:ln w="12700">
            <a:solidFill>
              <a:srgbClr val="172D6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228600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200" kern="0" dirty="0">
                <a:solidFill>
                  <a:srgbClr val="FFFFFF"/>
                </a:solidFill>
              </a:rPr>
              <a:t>KEY FINDING 4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457200" y="59436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707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Productivity Differs Across the Organization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457200" y="128016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707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Avg. Score by Job Level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57200" y="1719072"/>
            <a:ext cx="1234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70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Manager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1737360" y="1792224"/>
            <a:ext cx="3474720" cy="274320"/>
          </a:xfrm>
          <a:prstGeom prst="rect">
            <a:avLst/>
          </a:prstGeom>
          <a:solidFill>
            <a:srgbClr val="DDE3F8"/>
          </a:solidFill>
          <a:ln w="12700">
            <a:solidFill>
              <a:srgbClr val="DDE3F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737360" y="1792224"/>
            <a:ext cx="3137672" cy="274320"/>
          </a:xfrm>
          <a:prstGeom prst="rect">
            <a:avLst/>
          </a:prstGeom>
          <a:solidFill>
            <a:srgbClr val="172D67"/>
          </a:solidFill>
          <a:ln w="12700">
            <a:solidFill>
              <a:srgbClr val="172D6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966472" y="1792224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70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90.3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457200" y="2267712"/>
            <a:ext cx="1234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70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Senior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1737360" y="2340864"/>
            <a:ext cx="3474720" cy="274320"/>
          </a:xfrm>
          <a:prstGeom prst="rect">
            <a:avLst/>
          </a:prstGeom>
          <a:solidFill>
            <a:srgbClr val="DDE3F8"/>
          </a:solidFill>
          <a:ln w="12700">
            <a:solidFill>
              <a:srgbClr val="DDE3F8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737360" y="2340864"/>
            <a:ext cx="3061228" cy="274320"/>
          </a:xfrm>
          <a:prstGeom prst="rect">
            <a:avLst/>
          </a:prstGeom>
          <a:solidFill>
            <a:srgbClr val="2E73EA"/>
          </a:solidFill>
          <a:ln w="12700">
            <a:solidFill>
              <a:srgbClr val="2E73E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890028" y="2340864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70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88.1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457200" y="2816352"/>
            <a:ext cx="1234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70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1737360" y="2889504"/>
            <a:ext cx="3474720" cy="274320"/>
          </a:xfrm>
          <a:prstGeom prst="rect">
            <a:avLst/>
          </a:prstGeom>
          <a:solidFill>
            <a:srgbClr val="DDE3F8"/>
          </a:solidFill>
          <a:ln w="12700">
            <a:solidFill>
              <a:srgbClr val="DDE3F8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737360" y="2889504"/>
            <a:ext cx="3009108" cy="274320"/>
          </a:xfrm>
          <a:prstGeom prst="rect">
            <a:avLst/>
          </a:prstGeom>
          <a:solidFill>
            <a:srgbClr val="2E73EA"/>
          </a:solidFill>
          <a:ln w="12700">
            <a:solidFill>
              <a:srgbClr val="2E73E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837908" y="2889504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70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86.6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457200" y="3364992"/>
            <a:ext cx="1234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70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Mid-Level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1737360" y="3438144"/>
            <a:ext cx="3474720" cy="274320"/>
          </a:xfrm>
          <a:prstGeom prst="rect">
            <a:avLst/>
          </a:prstGeom>
          <a:solidFill>
            <a:srgbClr val="DDE3F8"/>
          </a:solidFill>
          <a:ln w="12700">
            <a:solidFill>
              <a:srgbClr val="DDE3F8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737360" y="3438144"/>
            <a:ext cx="2873593" cy="274320"/>
          </a:xfrm>
          <a:prstGeom prst="rect">
            <a:avLst/>
          </a:prstGeom>
          <a:solidFill>
            <a:srgbClr val="8C15E9"/>
          </a:solidFill>
          <a:ln w="12700">
            <a:solidFill>
              <a:srgbClr val="8C15E9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702393" y="3438144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70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82.7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457200" y="3913632"/>
            <a:ext cx="1234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70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Junior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1737360" y="3986784"/>
            <a:ext cx="3474720" cy="274320"/>
          </a:xfrm>
          <a:prstGeom prst="rect">
            <a:avLst/>
          </a:prstGeom>
          <a:solidFill>
            <a:srgbClr val="DDE3F8"/>
          </a:solidFill>
          <a:ln w="12700">
            <a:solidFill>
              <a:srgbClr val="DDE3F8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1737360" y="3986784"/>
            <a:ext cx="2731130" cy="274320"/>
          </a:xfrm>
          <a:prstGeom prst="rect">
            <a:avLst/>
          </a:prstGeom>
          <a:solidFill>
            <a:srgbClr val="9B8EC4"/>
          </a:solidFill>
          <a:ln w="12700">
            <a:solidFill>
              <a:srgbClr val="9B8EC4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559930" y="3986784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70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78.6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4846320" y="1280160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707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Avg. Score by Department (Top &amp; Bottom)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4846320" y="1719072"/>
            <a:ext cx="1417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70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6309360" y="1801368"/>
            <a:ext cx="3017520" cy="274320"/>
          </a:xfrm>
          <a:prstGeom prst="rect">
            <a:avLst/>
          </a:prstGeom>
          <a:solidFill>
            <a:srgbClr val="DDE3F8"/>
          </a:solidFill>
          <a:ln w="12700">
            <a:solidFill>
              <a:srgbClr val="DDE3F8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6309360" y="1801368"/>
            <a:ext cx="2589032" cy="274320"/>
          </a:xfrm>
          <a:prstGeom prst="rect">
            <a:avLst/>
          </a:prstGeom>
          <a:solidFill>
            <a:srgbClr val="22DDD2"/>
          </a:solidFill>
          <a:ln w="12700">
            <a:solidFill>
              <a:srgbClr val="22DDD2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8971544" y="180136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70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85.8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4846320" y="2377440"/>
            <a:ext cx="1417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70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Engineering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6309360" y="2459736"/>
            <a:ext cx="3017520" cy="274320"/>
          </a:xfrm>
          <a:prstGeom prst="rect">
            <a:avLst/>
          </a:prstGeom>
          <a:solidFill>
            <a:srgbClr val="DDE3F8"/>
          </a:solidFill>
          <a:ln w="12700">
            <a:solidFill>
              <a:srgbClr val="DDE3F8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6309360" y="2459736"/>
            <a:ext cx="2573945" cy="274320"/>
          </a:xfrm>
          <a:prstGeom prst="rect">
            <a:avLst/>
          </a:prstGeom>
          <a:solidFill>
            <a:srgbClr val="22DDD2"/>
          </a:solidFill>
          <a:ln w="12700">
            <a:solidFill>
              <a:srgbClr val="22DDD2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8956457" y="2459736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70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85.3</a:t>
            </a:r>
            <a:endParaRPr lang="en-US" sz="1050" dirty="0"/>
          </a:p>
        </p:txBody>
      </p:sp>
      <p:sp>
        <p:nvSpPr>
          <p:cNvPr id="37" name="Text 35"/>
          <p:cNvSpPr/>
          <p:nvPr/>
        </p:nvSpPr>
        <p:spPr>
          <a:xfrm>
            <a:off x="4846320" y="3035808"/>
            <a:ext cx="1417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70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</a:t>
            </a:r>
            <a:endParaRPr lang="en-US" sz="1050" dirty="0"/>
          </a:p>
        </p:txBody>
      </p:sp>
      <p:sp>
        <p:nvSpPr>
          <p:cNvPr id="38" name="Shape 36"/>
          <p:cNvSpPr/>
          <p:nvPr/>
        </p:nvSpPr>
        <p:spPr>
          <a:xfrm>
            <a:off x="6309360" y="3118104"/>
            <a:ext cx="3017520" cy="274320"/>
          </a:xfrm>
          <a:prstGeom prst="rect">
            <a:avLst/>
          </a:prstGeom>
          <a:solidFill>
            <a:srgbClr val="DDE3F8"/>
          </a:solidFill>
          <a:ln w="12700">
            <a:solidFill>
              <a:srgbClr val="DDE3F8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6309360" y="3118104"/>
            <a:ext cx="2435139" cy="274320"/>
          </a:xfrm>
          <a:prstGeom prst="rect">
            <a:avLst/>
          </a:prstGeom>
          <a:solidFill>
            <a:srgbClr val="8C15E9"/>
          </a:solidFill>
          <a:ln w="12700">
            <a:solidFill>
              <a:srgbClr val="8C15E9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8817651" y="3118104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70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80.7</a:t>
            </a:r>
            <a:endParaRPr lang="en-US" sz="1050" dirty="0"/>
          </a:p>
        </p:txBody>
      </p:sp>
      <p:sp>
        <p:nvSpPr>
          <p:cNvPr id="41" name="Text 39"/>
          <p:cNvSpPr/>
          <p:nvPr/>
        </p:nvSpPr>
        <p:spPr>
          <a:xfrm>
            <a:off x="4846320" y="3694176"/>
            <a:ext cx="1417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70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Success</a:t>
            </a:r>
            <a:endParaRPr lang="en-US" sz="1050" dirty="0"/>
          </a:p>
        </p:txBody>
      </p:sp>
      <p:sp>
        <p:nvSpPr>
          <p:cNvPr id="42" name="Shape 40"/>
          <p:cNvSpPr/>
          <p:nvPr/>
        </p:nvSpPr>
        <p:spPr>
          <a:xfrm>
            <a:off x="6309360" y="3776472"/>
            <a:ext cx="3017520" cy="274320"/>
          </a:xfrm>
          <a:prstGeom prst="rect">
            <a:avLst/>
          </a:prstGeom>
          <a:solidFill>
            <a:srgbClr val="DDE3F8"/>
          </a:solidFill>
          <a:ln w="12700">
            <a:solidFill>
              <a:srgbClr val="DDE3F8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6309360" y="3776472"/>
            <a:ext cx="2410998" cy="274320"/>
          </a:xfrm>
          <a:prstGeom prst="rect">
            <a:avLst/>
          </a:prstGeom>
          <a:solidFill>
            <a:srgbClr val="8C15E9"/>
          </a:solidFill>
          <a:ln w="12700">
            <a:solidFill>
              <a:srgbClr val="8C15E9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8793510" y="377647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70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79.9</a:t>
            </a:r>
            <a:endParaRPr lang="en-US" sz="1050" dirty="0"/>
          </a:p>
        </p:txBody>
      </p:sp>
      <p:sp>
        <p:nvSpPr>
          <p:cNvPr id="45" name="Shape 43"/>
          <p:cNvSpPr/>
          <p:nvPr/>
        </p:nvSpPr>
        <p:spPr>
          <a:xfrm>
            <a:off x="457200" y="4434840"/>
            <a:ext cx="8229600" cy="502920"/>
          </a:xfrm>
          <a:prstGeom prst="rect">
            <a:avLst/>
          </a:prstGeom>
          <a:solidFill>
            <a:srgbClr val="172D67"/>
          </a:solidFill>
          <a:ln w="12700">
            <a:solidFill>
              <a:srgbClr val="172D67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594360" y="4462272"/>
            <a:ext cx="7955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📌  Junior employees and customer-facing roles show the greatest opportunity — targeted support could meaningfully close the gap.</a:t>
            </a:r>
            <a:endParaRPr lang="en-US" sz="11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0F2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686800" y="4846320"/>
            <a:ext cx="457200" cy="256032"/>
          </a:xfrm>
          <a:prstGeom prst="rect">
            <a:avLst/>
          </a:prstGeom>
          <a:solidFill>
            <a:srgbClr val="17072B"/>
          </a:solidFill>
          <a:ln w="12700">
            <a:solidFill>
              <a:srgbClr val="17072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686800" y="4846320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10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457200" y="228600"/>
            <a:ext cx="1737360" cy="256032"/>
          </a:xfrm>
          <a:prstGeom prst="roundRect">
            <a:avLst>
              <a:gd name="adj" fmla="val 50000"/>
            </a:avLst>
          </a:prstGeom>
          <a:solidFill>
            <a:srgbClr val="172D67"/>
          </a:solidFill>
          <a:ln w="12700">
            <a:solidFill>
              <a:srgbClr val="172D6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228600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200" kern="0" dirty="0">
                <a:solidFill>
                  <a:srgbClr val="FFFFFF"/>
                </a:solidFill>
              </a:rPr>
              <a:t>BEHAVIORAL INSIGHTS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457200" y="59436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707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How Employees Actually Experience Work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457200" y="12801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7B8D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790 workers surveyed on attention, focus, and distraction: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57200" y="1737360"/>
            <a:ext cx="406908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57200" y="1737360"/>
            <a:ext cx="73152" cy="868680"/>
          </a:xfrm>
          <a:prstGeom prst="rect">
            <a:avLst/>
          </a:prstGeom>
          <a:solidFill>
            <a:srgbClr val="172D67"/>
          </a:solidFill>
          <a:ln w="12700">
            <a:solidFill>
              <a:srgbClr val="172D6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21792" y="1810512"/>
            <a:ext cx="777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72D6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39%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1463040" y="1810512"/>
            <a:ext cx="2971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70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sustain focus for 30+ minutes on a single task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800600" y="1737360"/>
            <a:ext cx="406908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800600" y="1737360"/>
            <a:ext cx="73152" cy="868680"/>
          </a:xfrm>
          <a:prstGeom prst="rect">
            <a:avLst/>
          </a:prstGeom>
          <a:solidFill>
            <a:srgbClr val="8C15E9"/>
          </a:solidFill>
          <a:ln w="12700">
            <a:solidFill>
              <a:srgbClr val="8C15E9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965192" y="1810512"/>
            <a:ext cx="777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8C15E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Top 3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5806440" y="1810512"/>
            <a:ext cx="2971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70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distractions: Email, smartphone notifications, social media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57200" y="2743200"/>
            <a:ext cx="406908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57200" y="2743200"/>
            <a:ext cx="73152" cy="868680"/>
          </a:xfrm>
          <a:prstGeom prst="rect">
            <a:avLst/>
          </a:prstGeom>
          <a:solidFill>
            <a:srgbClr val="2E73EA"/>
          </a:solidFill>
          <a:ln w="12700">
            <a:solidFill>
              <a:srgbClr val="2E73E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21792" y="2816352"/>
            <a:ext cx="777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E73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~57%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1463040" y="2816352"/>
            <a:ext cx="2971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70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feel frustrated or struggle to stay focused sometimes or often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800600" y="2743200"/>
            <a:ext cx="406908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800600" y="2743200"/>
            <a:ext cx="73152" cy="868680"/>
          </a:xfrm>
          <a:prstGeom prst="rect">
            <a:avLst/>
          </a:prstGeom>
          <a:solidFill>
            <a:srgbClr val="22DDD2"/>
          </a:solidFill>
          <a:ln w="12700">
            <a:solidFill>
              <a:srgbClr val="22DDD2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965192" y="2816352"/>
            <a:ext cx="777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2DDD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#1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5806440" y="2816352"/>
            <a:ext cx="2971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70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distraction strategy: silence notifications + quiet space + breaks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57200" y="3749040"/>
            <a:ext cx="406908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57200" y="3749040"/>
            <a:ext cx="73152" cy="868680"/>
          </a:xfrm>
          <a:prstGeom prst="rect">
            <a:avLst/>
          </a:prstGeom>
          <a:solidFill>
            <a:srgbClr val="172D67"/>
          </a:solidFill>
          <a:ln w="12700">
            <a:solidFill>
              <a:srgbClr val="172D67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21792" y="3822192"/>
            <a:ext cx="777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72D6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53%</a:t>
            </a:r>
            <a:endParaRPr lang="en-US" sz="2200" dirty="0"/>
          </a:p>
        </p:txBody>
      </p:sp>
      <p:sp>
        <p:nvSpPr>
          <p:cNvPr id="27" name="Text 25"/>
          <p:cNvSpPr/>
          <p:nvPr/>
        </p:nvSpPr>
        <p:spPr>
          <a:xfrm>
            <a:off x="1463040" y="3822192"/>
            <a:ext cx="2971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70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feel their daily behavior is 'somewhat aligned' with their priorities — but not fully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4800600" y="3749040"/>
            <a:ext cx="406908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4800600" y="3749040"/>
            <a:ext cx="73152" cy="868680"/>
          </a:xfrm>
          <a:prstGeom prst="rect">
            <a:avLst/>
          </a:prstGeom>
          <a:solidFill>
            <a:srgbClr val="8C15E9"/>
          </a:solidFill>
          <a:ln w="12700">
            <a:solidFill>
              <a:srgbClr val="8C15E9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965192" y="3822192"/>
            <a:ext cx="777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8C15E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~30%</a:t>
            </a:r>
            <a:endParaRPr lang="en-US" sz="2200" dirty="0"/>
          </a:p>
        </p:txBody>
      </p:sp>
      <p:sp>
        <p:nvSpPr>
          <p:cNvPr id="31" name="Text 29"/>
          <p:cNvSpPr/>
          <p:nvPr/>
        </p:nvSpPr>
        <p:spPr>
          <a:xfrm>
            <a:off x="5806440" y="3822192"/>
            <a:ext cx="2971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70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often or almost always feel busy all day but accomplish little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0F2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686800" y="4846320"/>
            <a:ext cx="457200" cy="256032"/>
          </a:xfrm>
          <a:prstGeom prst="rect">
            <a:avLst/>
          </a:prstGeom>
          <a:solidFill>
            <a:srgbClr val="17072B"/>
          </a:solidFill>
          <a:ln w="12700">
            <a:solidFill>
              <a:srgbClr val="17072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686800" y="4846320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11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457200" y="228600"/>
            <a:ext cx="1737360" cy="256032"/>
          </a:xfrm>
          <a:prstGeom prst="roundRect">
            <a:avLst>
              <a:gd name="adj" fmla="val 50000"/>
            </a:avLst>
          </a:prstGeom>
          <a:solidFill>
            <a:srgbClr val="172D67"/>
          </a:solidFill>
          <a:ln w="12700">
            <a:solidFill>
              <a:srgbClr val="172D6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228600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200" kern="0" dirty="0">
                <a:solidFill>
                  <a:srgbClr val="FFFFFF"/>
                </a:solidFill>
              </a:rPr>
              <a:t>MODEL PERFORMANCE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457200" y="59436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707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How Well Can We Predict Productivity?</a:t>
            </a:r>
            <a:endParaRPr lang="en-US" sz="3000" dirty="0"/>
          </a:p>
        </p:txBody>
      </p:sp>
      <p:sp>
        <p:nvSpPr>
          <p:cNvPr id="7" name="Shape 5"/>
          <p:cNvSpPr/>
          <p:nvPr/>
        </p:nvSpPr>
        <p:spPr>
          <a:xfrm>
            <a:off x="457200" y="1417320"/>
            <a:ext cx="5029200" cy="411480"/>
          </a:xfrm>
          <a:prstGeom prst="rect">
            <a:avLst/>
          </a:prstGeom>
          <a:solidFill>
            <a:srgbClr val="172D67"/>
          </a:solidFill>
          <a:ln w="12700">
            <a:solidFill>
              <a:srgbClr val="172D6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146304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Model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2926080" y="1463040"/>
            <a:ext cx="1188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CV R²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114800" y="1463040"/>
            <a:ext cx="1188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RMSE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57200" y="1901952"/>
            <a:ext cx="502920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F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94360" y="1938528"/>
            <a:ext cx="2240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70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 Regression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2926080" y="1938528"/>
            <a:ext cx="1188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70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0.24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114800" y="1938528"/>
            <a:ext cx="1188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70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13.44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57200" y="2377440"/>
            <a:ext cx="5029200" cy="438912"/>
          </a:xfrm>
          <a:prstGeom prst="rect">
            <a:avLst/>
          </a:prstGeom>
          <a:solidFill>
            <a:srgbClr val="F4F5FF"/>
          </a:solidFill>
          <a:ln w="12700">
            <a:solidFill>
              <a:srgbClr val="D0D8F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94360" y="2414016"/>
            <a:ext cx="2240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70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Ridge Regression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2926080" y="2414016"/>
            <a:ext cx="1188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70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0.26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114800" y="2414016"/>
            <a:ext cx="1188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70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13.26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57200" y="2852928"/>
            <a:ext cx="502920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F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94360" y="2889504"/>
            <a:ext cx="2240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70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2926080" y="2889504"/>
            <a:ext cx="1188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70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0.29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4114800" y="2889504"/>
            <a:ext cx="1188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70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12.76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457200" y="3328416"/>
            <a:ext cx="5029200" cy="438912"/>
          </a:xfrm>
          <a:prstGeom prst="rect">
            <a:avLst/>
          </a:prstGeom>
          <a:solidFill>
            <a:srgbClr val="EBF0FF"/>
          </a:solidFill>
          <a:ln w="12700">
            <a:solidFill>
              <a:srgbClr val="D0D8F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57200" y="3328416"/>
            <a:ext cx="54864" cy="438912"/>
          </a:xfrm>
          <a:prstGeom prst="rect">
            <a:avLst/>
          </a:prstGeom>
          <a:solidFill>
            <a:srgbClr val="22DDD2"/>
          </a:solidFill>
          <a:ln w="12700">
            <a:solidFill>
              <a:srgbClr val="22DDD2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94360" y="3364992"/>
            <a:ext cx="2240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72D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Gradient Boosting ✓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2926080" y="3364992"/>
            <a:ext cx="1188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2DD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0.30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4114800" y="3364992"/>
            <a:ext cx="1188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2DD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12.01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5669280" y="1417320"/>
            <a:ext cx="3017520" cy="3337560"/>
          </a:xfrm>
          <a:prstGeom prst="rect">
            <a:avLst/>
          </a:prstGeom>
          <a:solidFill>
            <a:srgbClr val="17072B"/>
          </a:solidFill>
          <a:ln w="12700">
            <a:solidFill>
              <a:srgbClr val="17072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5806440" y="1554480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22DDD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Does R² = 0.30 Mean?</a:t>
            </a:r>
            <a:endParaRPr lang="en-US" sz="1350" dirty="0"/>
          </a:p>
        </p:txBody>
      </p:sp>
      <p:sp>
        <p:nvSpPr>
          <p:cNvPr id="30" name="Shape 28"/>
          <p:cNvSpPr/>
          <p:nvPr/>
        </p:nvSpPr>
        <p:spPr>
          <a:xfrm>
            <a:off x="5806440" y="2240280"/>
            <a:ext cx="475488" cy="475488"/>
          </a:xfrm>
          <a:prstGeom prst="ellipse">
            <a:avLst/>
          </a:prstGeom>
          <a:solidFill>
            <a:srgbClr val="22DDD2"/>
          </a:solidFill>
          <a:ln w="12700">
            <a:solidFill>
              <a:srgbClr val="22DDD2"/>
            </a:solidFill>
            <a:prstDash val="solid"/>
          </a:ln>
        </p:spPr>
      </p:sp>
      <p:pic>
        <p:nvPicPr>
          <p:cNvPr id="3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07024" y="2340864"/>
            <a:ext cx="274320" cy="274320"/>
          </a:xfrm>
          <a:prstGeom prst="rect">
            <a:avLst/>
          </a:prstGeom>
        </p:spPr>
      </p:pic>
      <p:sp>
        <p:nvSpPr>
          <p:cNvPr id="32" name="Text 29"/>
          <p:cNvSpPr/>
          <p:nvPr/>
        </p:nvSpPr>
        <p:spPr>
          <a:xfrm>
            <a:off x="6400800" y="2240280"/>
            <a:ext cx="21945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8D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model explains 30% of the variation in productivity scores.</a:t>
            </a:r>
            <a:endParaRPr lang="en-US" sz="1050" dirty="0"/>
          </a:p>
        </p:txBody>
      </p:sp>
      <p:sp>
        <p:nvSpPr>
          <p:cNvPr id="33" name="Shape 30"/>
          <p:cNvSpPr/>
          <p:nvPr/>
        </p:nvSpPr>
        <p:spPr>
          <a:xfrm>
            <a:off x="5806440" y="2898648"/>
            <a:ext cx="475488" cy="475488"/>
          </a:xfrm>
          <a:prstGeom prst="ellipse">
            <a:avLst/>
          </a:prstGeom>
          <a:solidFill>
            <a:srgbClr val="22DDD2"/>
          </a:solidFill>
          <a:ln w="12700">
            <a:solidFill>
              <a:srgbClr val="22DDD2"/>
            </a:solidFill>
            <a:prstDash val="solid"/>
          </a:ln>
        </p:spPr>
      </p:sp>
      <p:pic>
        <p:nvPicPr>
          <p:cNvPr id="3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07024" y="2999232"/>
            <a:ext cx="274320" cy="274320"/>
          </a:xfrm>
          <a:prstGeom prst="rect">
            <a:avLst/>
          </a:prstGeom>
        </p:spPr>
      </p:pic>
      <p:sp>
        <p:nvSpPr>
          <p:cNvPr id="35" name="Text 31"/>
          <p:cNvSpPr/>
          <p:nvPr/>
        </p:nvSpPr>
        <p:spPr>
          <a:xfrm>
            <a:off x="6400800" y="2898648"/>
            <a:ext cx="21945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8D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complex human behavior, this is a meaningful signal — not a perfect oracle.</a:t>
            </a:r>
            <a:endParaRPr lang="en-US" sz="1050" dirty="0"/>
          </a:p>
        </p:txBody>
      </p:sp>
      <p:sp>
        <p:nvSpPr>
          <p:cNvPr id="36" name="Shape 32"/>
          <p:cNvSpPr/>
          <p:nvPr/>
        </p:nvSpPr>
        <p:spPr>
          <a:xfrm>
            <a:off x="5806440" y="3557016"/>
            <a:ext cx="475488" cy="475488"/>
          </a:xfrm>
          <a:prstGeom prst="ellipse">
            <a:avLst/>
          </a:prstGeom>
          <a:solidFill>
            <a:srgbClr val="22DDD2"/>
          </a:solidFill>
          <a:ln w="12700">
            <a:solidFill>
              <a:srgbClr val="22DDD2"/>
            </a:solidFill>
            <a:prstDash val="solid"/>
          </a:ln>
        </p:spPr>
      </p:sp>
      <p:pic>
        <p:nvPicPr>
          <p:cNvPr id="3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07024" y="3657600"/>
            <a:ext cx="274320" cy="274320"/>
          </a:xfrm>
          <a:prstGeom prst="rect">
            <a:avLst/>
          </a:prstGeom>
        </p:spPr>
      </p:pic>
      <p:sp>
        <p:nvSpPr>
          <p:cNvPr id="38" name="Text 33"/>
          <p:cNvSpPr/>
          <p:nvPr/>
        </p:nvSpPr>
        <p:spPr>
          <a:xfrm>
            <a:off x="6400800" y="3557016"/>
            <a:ext cx="21945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8D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model is best used to identify patterns and thresholds, not precise individual scores.</a:t>
            </a:r>
            <a:endParaRPr lang="en-US" sz="1050" dirty="0"/>
          </a:p>
        </p:txBody>
      </p:sp>
      <p:sp>
        <p:nvSpPr>
          <p:cNvPr id="39" name="Shape 34"/>
          <p:cNvSpPr/>
          <p:nvPr/>
        </p:nvSpPr>
        <p:spPr>
          <a:xfrm>
            <a:off x="5806440" y="4215384"/>
            <a:ext cx="475488" cy="475488"/>
          </a:xfrm>
          <a:prstGeom prst="ellipse">
            <a:avLst/>
          </a:prstGeom>
          <a:solidFill>
            <a:srgbClr val="22DDD2"/>
          </a:solidFill>
          <a:ln w="12700">
            <a:solidFill>
              <a:srgbClr val="22DDD2"/>
            </a:solidFill>
            <a:prstDash val="solid"/>
          </a:ln>
        </p:spPr>
      </p:sp>
      <p:pic>
        <p:nvPicPr>
          <p:cNvPr id="4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07024" y="4315968"/>
            <a:ext cx="274320" cy="274320"/>
          </a:xfrm>
          <a:prstGeom prst="rect">
            <a:avLst/>
          </a:prstGeom>
        </p:spPr>
      </p:pic>
      <p:sp>
        <p:nvSpPr>
          <p:cNvPr id="41" name="Text 35"/>
          <p:cNvSpPr/>
          <p:nvPr/>
        </p:nvSpPr>
        <p:spPr>
          <a:xfrm>
            <a:off x="6400800" y="4215384"/>
            <a:ext cx="21945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8D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Directional insights — which levers to pull — are reliable and actionable.</a:t>
            </a:r>
            <a:endParaRPr lang="en-US" sz="1050" dirty="0"/>
          </a:p>
        </p:txBody>
      </p:sp>
      <p:sp>
        <p:nvSpPr>
          <p:cNvPr id="42" name="Text 36"/>
          <p:cNvSpPr/>
          <p:nvPr/>
        </p:nvSpPr>
        <p:spPr>
          <a:xfrm>
            <a:off x="457200" y="4800600"/>
            <a:ext cx="5029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7B8D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Lower RMSE = better accuracy  |  Higher R² = more variance explained</a:t>
            </a:r>
            <a:endParaRPr lang="en-US" sz="8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707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686800" y="4846320"/>
            <a:ext cx="457200" cy="256032"/>
          </a:xfrm>
          <a:prstGeom prst="rect">
            <a:avLst/>
          </a:prstGeom>
          <a:solidFill>
            <a:srgbClr val="17072B"/>
          </a:solidFill>
          <a:ln w="12700">
            <a:solidFill>
              <a:srgbClr val="17072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686800" y="4846320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12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27432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C8D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64008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Four Actions Leadership Can Take Now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411480" y="1417320"/>
            <a:ext cx="4069080" cy="1645920"/>
          </a:xfrm>
          <a:prstGeom prst="rect">
            <a:avLst/>
          </a:prstGeom>
          <a:solidFill>
            <a:srgbClr val="172D67">
              <a:alpha val="70000"/>
            </a:srgbClr>
          </a:solidFill>
          <a:ln w="12700">
            <a:solidFill>
              <a:srgbClr val="C8DCFF">
                <a:alpha val="30000"/>
              </a:srgbClr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48640" y="2011680"/>
            <a:ext cx="502920" cy="502920"/>
          </a:xfrm>
          <a:prstGeom prst="ellipse">
            <a:avLst/>
          </a:prstGeom>
          <a:solidFill>
            <a:srgbClr val="22DDD2"/>
          </a:solidFill>
          <a:ln w="12700">
            <a:solidFill>
              <a:srgbClr val="22DDD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20116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707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188720" y="1508760"/>
            <a:ext cx="3154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2DDD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Invest in Job Satisfaction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188720" y="1920240"/>
            <a:ext cx="31546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8D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Job satisfaction is the single strongest predictor of productivity. Pulse surveys, clear growth paths, and recognition programs are high-ROI investments.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4754880" y="1417320"/>
            <a:ext cx="4069080" cy="1645920"/>
          </a:xfrm>
          <a:prstGeom prst="rect">
            <a:avLst/>
          </a:prstGeom>
          <a:solidFill>
            <a:srgbClr val="172D67">
              <a:alpha val="70000"/>
            </a:srgbClr>
          </a:solidFill>
          <a:ln w="12700">
            <a:solidFill>
              <a:srgbClr val="C8DCFF">
                <a:alpha val="30000"/>
              </a:srgbClr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892040" y="2011680"/>
            <a:ext cx="502920" cy="502920"/>
          </a:xfrm>
          <a:prstGeom prst="ellipse">
            <a:avLst/>
          </a:prstGeom>
          <a:solidFill>
            <a:srgbClr val="2E73EA"/>
          </a:solidFill>
          <a:ln w="12700">
            <a:solidFill>
              <a:srgbClr val="2E73E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892040" y="20116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5532120" y="1508760"/>
            <a:ext cx="3154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2DDD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Improve Home Office Conditions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5532120" y="1920240"/>
            <a:ext cx="31546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8D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 office quality ranked #2 in feature importance. Equipment stipends and ergonomic support directly impact employee effectiveness.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411480" y="3200400"/>
            <a:ext cx="4069080" cy="1645920"/>
          </a:xfrm>
          <a:prstGeom prst="rect">
            <a:avLst/>
          </a:prstGeom>
          <a:solidFill>
            <a:srgbClr val="172D67">
              <a:alpha val="70000"/>
            </a:srgbClr>
          </a:solidFill>
          <a:ln w="12700">
            <a:solidFill>
              <a:srgbClr val="C8DCFF">
                <a:alpha val="30000"/>
              </a:srgbClr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548640" y="3794760"/>
            <a:ext cx="502920" cy="502920"/>
          </a:xfrm>
          <a:prstGeom prst="ellipse">
            <a:avLst/>
          </a:prstGeom>
          <a:solidFill>
            <a:srgbClr val="8C15E9"/>
          </a:solidFill>
          <a:ln w="12700">
            <a:solidFill>
              <a:srgbClr val="8C15E9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48640" y="37947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188720" y="3291840"/>
            <a:ext cx="3154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2DDD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Protect Focused Work Time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1188720" y="3703320"/>
            <a:ext cx="31546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8D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meeting-free blocks daily. The data shows diminishing returns beyond moderate meeting loads — less is often more.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4754880" y="3200400"/>
            <a:ext cx="4069080" cy="1645920"/>
          </a:xfrm>
          <a:prstGeom prst="rect">
            <a:avLst/>
          </a:prstGeom>
          <a:solidFill>
            <a:srgbClr val="172D67">
              <a:alpha val="70000"/>
            </a:srgbClr>
          </a:solidFill>
          <a:ln w="12700">
            <a:solidFill>
              <a:srgbClr val="C8DCFF">
                <a:alpha val="30000"/>
              </a:srgbClr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892040" y="3794760"/>
            <a:ext cx="502920" cy="502920"/>
          </a:xfrm>
          <a:prstGeom prst="ellipse">
            <a:avLst/>
          </a:prstGeom>
          <a:solidFill>
            <a:srgbClr val="172D67"/>
          </a:solidFill>
          <a:ln w="12700">
            <a:solidFill>
              <a:srgbClr val="172D67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892040" y="37947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5532120" y="3291840"/>
            <a:ext cx="3154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2DDD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Invest in Manager Development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5532120" y="3703320"/>
            <a:ext cx="31546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8D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Managers score 90.3 vs Juniors at 78.6. Manager support level is a top driver — coaching junior employees pays outsized dividends.</a:t>
            </a:r>
            <a:endParaRPr lang="en-US" sz="10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707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686800" y="4846320"/>
            <a:ext cx="457200" cy="256032"/>
          </a:xfrm>
          <a:prstGeom prst="rect">
            <a:avLst/>
          </a:prstGeom>
          <a:solidFill>
            <a:srgbClr val="17072B"/>
          </a:solidFill>
          <a:ln w="12700">
            <a:solidFill>
              <a:srgbClr val="17072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686800" y="4846320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13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22DDD2"/>
          </a:solidFill>
          <a:ln w="12700">
            <a:solidFill>
              <a:srgbClr val="22DDD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3657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C8D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Bottom Line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365760" y="841248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Productivity is not about</a:t>
            </a:r>
            <a:endParaRPr lang="en-US" sz="2700" dirty="0"/>
          </a:p>
        </p:txBody>
      </p:sp>
      <p:sp>
        <p:nvSpPr>
          <p:cNvPr id="7" name="Text 5"/>
          <p:cNvSpPr/>
          <p:nvPr/>
        </p:nvSpPr>
        <p:spPr>
          <a:xfrm>
            <a:off x="365760" y="132588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working harder — it's about</a:t>
            </a:r>
            <a:endParaRPr lang="en-US" sz="2700" dirty="0"/>
          </a:p>
        </p:txBody>
      </p:sp>
      <p:sp>
        <p:nvSpPr>
          <p:cNvPr id="8" name="Text 6"/>
          <p:cNvSpPr/>
          <p:nvPr/>
        </p:nvSpPr>
        <p:spPr>
          <a:xfrm>
            <a:off x="365760" y="1810512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22DDD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working smarter.</a:t>
            </a:r>
            <a:endParaRPr lang="en-US" sz="2700" dirty="0"/>
          </a:p>
        </p:txBody>
      </p:sp>
      <p:sp>
        <p:nvSpPr>
          <p:cNvPr id="9" name="Shape 7"/>
          <p:cNvSpPr/>
          <p:nvPr/>
        </p:nvSpPr>
        <p:spPr>
          <a:xfrm>
            <a:off x="365760" y="2487168"/>
            <a:ext cx="8321040" cy="18288"/>
          </a:xfrm>
          <a:prstGeom prst="rect">
            <a:avLst/>
          </a:prstGeom>
          <a:solidFill>
            <a:srgbClr val="C8DCFF">
              <a:alpha val="40000"/>
            </a:srgbClr>
          </a:solidFill>
          <a:ln w="12700">
            <a:solidFill>
              <a:srgbClr val="C8DCFF">
                <a:alpha val="40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11480" y="2697480"/>
            <a:ext cx="365760" cy="365760"/>
          </a:xfrm>
          <a:prstGeom prst="ellipse">
            <a:avLst/>
          </a:prstGeom>
          <a:solidFill>
            <a:srgbClr val="22DDD2"/>
          </a:solidFill>
          <a:ln w="12700">
            <a:solidFill>
              <a:srgbClr val="22DDD2"/>
            </a:solidFill>
            <a:prstDash val="solid"/>
          </a:ln>
        </p:spPr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2743200"/>
            <a:ext cx="274320" cy="274320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914400" y="2679192"/>
            <a:ext cx="7772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8D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Job satisfaction, home office quality, and manager support are the highest-leverage factors for improving productivity.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411480" y="3383280"/>
            <a:ext cx="365760" cy="365760"/>
          </a:xfrm>
          <a:prstGeom prst="ellipse">
            <a:avLst/>
          </a:prstGeom>
          <a:solidFill>
            <a:srgbClr val="8C15E9"/>
          </a:solidFill>
          <a:ln w="12700">
            <a:solidFill>
              <a:srgbClr val="8C15E9"/>
            </a:solidFill>
            <a:prstDash val="solid"/>
          </a:ln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3429000"/>
            <a:ext cx="274320" cy="274320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914400" y="3364992"/>
            <a:ext cx="7772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8D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Heavy meeting loads and extended work hours show diminishing returns — protecting focus time is not optional.</a:t>
            </a:r>
            <a:endParaRPr lang="en-US" sz="1200" dirty="0"/>
          </a:p>
        </p:txBody>
      </p:sp>
      <p:sp>
        <p:nvSpPr>
          <p:cNvPr id="16" name="Shape 12"/>
          <p:cNvSpPr/>
          <p:nvPr/>
        </p:nvSpPr>
        <p:spPr>
          <a:xfrm>
            <a:off x="411480" y="4069080"/>
            <a:ext cx="365760" cy="365760"/>
          </a:xfrm>
          <a:prstGeom prst="ellipse">
            <a:avLst/>
          </a:prstGeom>
          <a:solidFill>
            <a:srgbClr val="2E73EA"/>
          </a:solidFill>
          <a:ln w="12700">
            <a:solidFill>
              <a:srgbClr val="2E73EA"/>
            </a:solidFill>
            <a:prstDash val="solid"/>
          </a:ln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4114800"/>
            <a:ext cx="274320" cy="27432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914400" y="4050792"/>
            <a:ext cx="7772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8D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ML model provides a repeatable framework for monitoring workforce productivity and guiding future interventions.</a:t>
            </a:r>
            <a:endParaRPr lang="en-US" sz="1200" dirty="0"/>
          </a:p>
        </p:txBody>
      </p:sp>
      <p:sp>
        <p:nvSpPr>
          <p:cNvPr id="19" name="Text 14"/>
          <p:cNvSpPr/>
          <p:nvPr/>
        </p:nvSpPr>
        <p:spPr>
          <a:xfrm>
            <a:off x="365760" y="4754880"/>
            <a:ext cx="8321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C8D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Thealisha Muse  ·  AI08-PT-CAP-01  ·  Dr. James Hudson  ·  2026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Modeling the Impact of Multitasking and Distraction on Worker Productivity</dc:title>
  <dc:subject>PptxGenJS Presentation</dc:subject>
  <dc:creator>Thealisha Muse</dc:creator>
  <cp:lastModifiedBy>Thealisha Muse</cp:lastModifiedBy>
  <cp:revision>1</cp:revision>
  <dcterms:created xsi:type="dcterms:W3CDTF">2026-05-03T18:08:45Z</dcterms:created>
  <dcterms:modified xsi:type="dcterms:W3CDTF">2026-05-03T18:08:45Z</dcterms:modified>
</cp:coreProperties>
</file>